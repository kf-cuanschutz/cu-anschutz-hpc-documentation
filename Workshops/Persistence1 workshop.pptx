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67" r:id="rId7"/>
    <p:sldId id="261" r:id="rId8"/>
    <p:sldId id="282" r:id="rId9"/>
    <p:sldId id="269" r:id="rId10"/>
    <p:sldId id="270" r:id="rId11"/>
    <p:sldId id="272" r:id="rId12"/>
    <p:sldId id="274" r:id="rId13"/>
    <p:sldId id="279" r:id="rId14"/>
    <p:sldId id="275" r:id="rId15"/>
    <p:sldId id="276" r:id="rId16"/>
    <p:sldId id="271" r:id="rId17"/>
    <p:sldId id="281" r:id="rId18"/>
    <p:sldId id="283" r:id="rId19"/>
    <p:sldId id="284" r:id="rId20"/>
    <p:sldId id="280" r:id="rId21"/>
    <p:sldId id="265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DF5FE5-39A3-0A41-A9E2-3CCD4BAD4D08}" v="81" dt="2026-10-06T18:47:04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553"/>
  </p:normalViewPr>
  <p:slideViewPr>
    <p:cSldViewPr snapToGrid="0">
      <p:cViewPr varScale="1">
        <p:scale>
          <a:sx n="125" d="100"/>
          <a:sy n="125" d="100"/>
        </p:scale>
        <p:origin x="1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2247-940D-EDB3-A24A-CCA299E1E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643C8-6995-693E-259C-7CDEE4C24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DFF7-4946-610D-ECF5-83FAC88E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8BBD-39D6-DEC7-981D-B7F2D3CA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0A795-3E00-17DE-D45F-0F2B12A5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7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3762-B44D-6294-2808-8B96B83A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5370E-664B-EA83-29FE-E561C58FB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FDCD9-3109-C202-437E-2365CFC0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EC9D1-B74E-02F0-1CB1-8966C0D2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9B130-9D13-03EE-AD15-AA510B62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7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F9FC-5AA9-D17D-AB90-AB8C9A4F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D1E36-95E8-FAA4-9EB3-4318D2AB2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58702-2F22-9E17-5D5D-A397CF1D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231D-12C9-5265-3F5B-3EFD5505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20EA9-5DB3-E40C-C0BE-9953B348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7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6867-9FBA-9F98-DD15-DCF7C128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47F0A-FC16-16B2-D441-D1CF62CD3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9A54C-6A7F-960E-B2E3-CF6F4B228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C4D22-9AEB-E097-A329-FB1406CD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00554-44AE-37A3-B69F-F3E56B2F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BDC2-024C-763D-1DB9-DCCD2F93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8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A015-C944-24B4-B6AF-CBCE580B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D6DAD-117E-8FD0-B17B-6175D6A28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BD726-FE5C-2132-8F5E-29B10D529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D386A-9D61-AE35-6A4F-804BDCB63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D985C-5B72-5771-8496-6C3E162B1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FA38B-357E-2F11-6264-B37FD69B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E3861A-6E80-A400-5B97-9E9DB1B5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3F2AF-7388-4383-A78A-E86ED7FF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7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9389-45D1-BDC1-9952-B0DF73034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FD3926-68F7-8A4A-761F-FB0CF2F5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18E71-C354-A2E1-1C35-04676249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0DF72-CCE6-2D36-E933-41F3D367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5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02B6F-C12A-9803-7727-7A33CB6E4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D4D68-FC6A-DCD4-11B3-6C6FDE06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F7919-4C13-913E-0D9E-8751F793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0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A733-D7D4-750E-E93E-2B2C6A8FC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FB25D-9831-41A5-471C-1E39A2F12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8715D-8278-65E7-9A8B-E024C8B1E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6C6E6-DDEB-6680-2FA8-8DDB81CE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54BE5-B50A-F48B-1D16-53CD6825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C5F0E-34BE-AA08-AB0C-1FBD584C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6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B92C-5194-00FB-055C-940D25261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B6F2C-FE0A-2AF7-55FF-0D07B55B0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1B577-6CBB-0F69-C00D-7BD98E2CE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01FE0-4C58-37D5-8F3C-8FADEB01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44E83-4E8B-F11E-6190-7FD7B931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16D31-580D-E2E1-6C6B-0B02C200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1ECE-E019-12E0-E2FE-60C68DB5B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DF331-F028-87D4-C7F4-F588BB94A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270A0-659C-24D0-EC3D-9BC99A98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2853F-4C99-D141-22FC-849C3BC20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E9759-0FA8-DB6E-77AC-8AF93A4F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8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11BBB-D502-3849-BFB0-06A43BFFE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20D9F-B27E-5376-05FC-46AC03861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2186-6794-66F5-F9B5-E63780F5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77144-9632-247D-1175-DA563649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2D012-1F01-AE4E-CEB2-A2589985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7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8017E-3A2F-428F-38C1-205238454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5452C-CE86-45F4-1267-D5244D3FD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721DC-EE1B-3568-36BD-C25CF8D71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C1156-930F-0B47-9D21-220CB4F42C0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5A505-1028-6C49-6A47-98662A562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9C0B1-C3CC-9BBE-8352-25C3EA3FD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5DC24-D7AA-3A4C-BE6C-94219A94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xtflow.io/basic-pipeline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f-cuanschutz/CU-Anschutz-HPC-documentation/blob/main/Workshops/curc_alpine.confi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urc.readthedocs.io/en/latest/running-jobs/batch-jobs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f-cuanschutz/CU-Anschutz-HPC-documentation/blob/main/Workshops/bash_nextflow_examplescript.sh" TargetMode="External"/><Relationship Id="rId2" Type="http://schemas.openxmlformats.org/officeDocument/2006/relationships/hyperlink" Target="mailto:hpcsupport@cuanschutz.edu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running-jobs/batch-jobs.html" TargetMode="External"/><Relationship Id="rId2" Type="http://schemas.openxmlformats.org/officeDocument/2006/relationships/hyperlink" Target="https://github.com/kf-cuanschutz/CU-Anschutz-HPC-documentation/blob/main/Workshops/bash_nextflow_examplescript.s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kf-cuanschutz/CU-Anschutz-HPC-documentation/blob/main/Workshops/Alpine_best_practices_workshop_0326202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hyperlink" Target="mailto:HPCSupport@cuanschutz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67F378D-A000-47AE-83B2-D9954D8C9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8E26863-5660-4928-984A-CA2CFC8F6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647" y="746626"/>
            <a:ext cx="3508037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D7538F2A-6532-4E38-8354-21841BB0B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10065" y="580586"/>
            <a:ext cx="1027015" cy="258262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2F31131-35FC-4834-8E62-1D9DA3BE2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4148" y="746626"/>
            <a:ext cx="3508037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7AD7F70-85A5-463C-9B1F-3182B60F8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2570" y="746626"/>
            <a:ext cx="3511296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5F002A4-1B0E-473E-AD7B-8346FB83B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22924" y="2300232"/>
            <a:ext cx="1027015" cy="258262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13AF7514-9DD7-4ADB-84DF-5D8B61E73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919" y="4298302"/>
            <a:ext cx="12192000" cy="2559698"/>
          </a:xfrm>
          <a:custGeom>
            <a:avLst/>
            <a:gdLst>
              <a:gd name="connsiteX0" fmla="*/ 1462415 w 12192000"/>
              <a:gd name="connsiteY0" fmla="*/ 0 h 2685062"/>
              <a:gd name="connsiteX1" fmla="*/ 1494432 w 12192000"/>
              <a:gd name="connsiteY1" fmla="*/ 2457 h 2685062"/>
              <a:gd name="connsiteX2" fmla="*/ 1523667 w 12192000"/>
              <a:gd name="connsiteY2" fmla="*/ 11778 h 2685062"/>
              <a:gd name="connsiteX3" fmla="*/ 1523067 w 12192000"/>
              <a:gd name="connsiteY3" fmla="*/ 14207 h 2685062"/>
              <a:gd name="connsiteX4" fmla="*/ 1527695 w 12192000"/>
              <a:gd name="connsiteY4" fmla="*/ 15715 h 2685062"/>
              <a:gd name="connsiteX5" fmla="*/ 1532258 w 12192000"/>
              <a:gd name="connsiteY5" fmla="*/ 14518 h 2685062"/>
              <a:gd name="connsiteX6" fmla="*/ 1537796 w 12192000"/>
              <a:gd name="connsiteY6" fmla="*/ 16283 h 2685062"/>
              <a:gd name="connsiteX7" fmla="*/ 1553041 w 12192000"/>
              <a:gd name="connsiteY7" fmla="*/ 20452 h 2685062"/>
              <a:gd name="connsiteX8" fmla="*/ 1557495 w 12192000"/>
              <a:gd name="connsiteY8" fmla="*/ 25861 h 2685062"/>
              <a:gd name="connsiteX9" fmla="*/ 1617448 w 12192000"/>
              <a:gd name="connsiteY9" fmla="*/ 40977 h 2685062"/>
              <a:gd name="connsiteX10" fmla="*/ 1636697 w 12192000"/>
              <a:gd name="connsiteY10" fmla="*/ 39108 h 2685062"/>
              <a:gd name="connsiteX11" fmla="*/ 1657286 w 12192000"/>
              <a:gd name="connsiteY11" fmla="*/ 49000 h 2685062"/>
              <a:gd name="connsiteX12" fmla="*/ 1719191 w 12192000"/>
              <a:gd name="connsiteY12" fmla="*/ 56920 h 2685062"/>
              <a:gd name="connsiteX13" fmla="*/ 1787126 w 12192000"/>
              <a:gd name="connsiteY13" fmla="*/ 71960 h 2685062"/>
              <a:gd name="connsiteX14" fmla="*/ 1834555 w 12192000"/>
              <a:gd name="connsiteY14" fmla="*/ 86590 h 2685062"/>
              <a:gd name="connsiteX15" fmla="*/ 1966070 w 12192000"/>
              <a:gd name="connsiteY15" fmla="*/ 103987 h 2685062"/>
              <a:gd name="connsiteX16" fmla="*/ 2188582 w 12192000"/>
              <a:gd name="connsiteY16" fmla="*/ 124532 h 2685062"/>
              <a:gd name="connsiteX17" fmla="*/ 2234811 w 12192000"/>
              <a:gd name="connsiteY17" fmla="*/ 130739 h 2685062"/>
              <a:gd name="connsiteX18" fmla="*/ 2270005 w 12192000"/>
              <a:gd name="connsiteY18" fmla="*/ 143358 h 2685062"/>
              <a:gd name="connsiteX19" fmla="*/ 2274208 w 12192000"/>
              <a:gd name="connsiteY19" fmla="*/ 152634 h 2685062"/>
              <a:gd name="connsiteX20" fmla="*/ 2298905 w 12192000"/>
              <a:gd name="connsiteY20" fmla="*/ 157215 h 2685062"/>
              <a:gd name="connsiteX21" fmla="*/ 2304521 w 12192000"/>
              <a:gd name="connsiteY21" fmla="*/ 159957 h 2685062"/>
              <a:gd name="connsiteX22" fmla="*/ 2337696 w 12192000"/>
              <a:gd name="connsiteY22" fmla="*/ 174150 h 2685062"/>
              <a:gd name="connsiteX23" fmla="*/ 2432112 w 12192000"/>
              <a:gd name="connsiteY23" fmla="*/ 166646 h 2685062"/>
              <a:gd name="connsiteX24" fmla="*/ 2500149 w 12192000"/>
              <a:gd name="connsiteY24" fmla="*/ 168723 h 2685062"/>
              <a:gd name="connsiteX25" fmla="*/ 2504776 w 12192000"/>
              <a:gd name="connsiteY25" fmla="*/ 171455 h 2685062"/>
              <a:gd name="connsiteX26" fmla="*/ 2507358 w 12192000"/>
              <a:gd name="connsiteY26" fmla="*/ 177677 h 2685062"/>
              <a:gd name="connsiteX27" fmla="*/ 2518847 w 12192000"/>
              <a:gd name="connsiteY27" fmla="*/ 180936 h 2685062"/>
              <a:gd name="connsiteX28" fmla="*/ 2528864 w 12192000"/>
              <a:gd name="connsiteY28" fmla="*/ 188517 h 2685062"/>
              <a:gd name="connsiteX29" fmla="*/ 2938613 w 12192000"/>
              <a:gd name="connsiteY29" fmla="*/ 248764 h 2685062"/>
              <a:gd name="connsiteX30" fmla="*/ 3132513 w 12192000"/>
              <a:gd name="connsiteY30" fmla="*/ 229282 h 2685062"/>
              <a:gd name="connsiteX31" fmla="*/ 3208657 w 12192000"/>
              <a:gd name="connsiteY31" fmla="*/ 230814 h 2685062"/>
              <a:gd name="connsiteX32" fmla="*/ 3217904 w 12192000"/>
              <a:gd name="connsiteY32" fmla="*/ 237375 h 2685062"/>
              <a:gd name="connsiteX33" fmla="*/ 3330150 w 12192000"/>
              <a:gd name="connsiteY33" fmla="*/ 214762 h 2685062"/>
              <a:gd name="connsiteX34" fmla="*/ 3480527 w 12192000"/>
              <a:gd name="connsiteY34" fmla="*/ 231960 h 2685062"/>
              <a:gd name="connsiteX35" fmla="*/ 3591806 w 12192000"/>
              <a:gd name="connsiteY35" fmla="*/ 253003 h 2685062"/>
              <a:gd name="connsiteX36" fmla="*/ 3655143 w 12192000"/>
              <a:gd name="connsiteY36" fmla="*/ 261318 h 2685062"/>
              <a:gd name="connsiteX37" fmla="*/ 3700191 w 12192000"/>
              <a:gd name="connsiteY37" fmla="*/ 271235 h 2685062"/>
              <a:gd name="connsiteX38" fmla="*/ 3820459 w 12192000"/>
              <a:gd name="connsiteY38" fmla="*/ 275675 h 2685062"/>
              <a:gd name="connsiteX39" fmla="*/ 4022158 w 12192000"/>
              <a:gd name="connsiteY39" fmla="*/ 274341 h 2685062"/>
              <a:gd name="connsiteX40" fmla="*/ 4164508 w 12192000"/>
              <a:gd name="connsiteY40" fmla="*/ 309117 h 2685062"/>
              <a:gd name="connsiteX41" fmla="*/ 4246843 w 12192000"/>
              <a:gd name="connsiteY41" fmla="*/ 292417 h 2685062"/>
              <a:gd name="connsiteX42" fmla="*/ 4337133 w 12192000"/>
              <a:gd name="connsiteY42" fmla="*/ 304707 h 2685062"/>
              <a:gd name="connsiteX43" fmla="*/ 4696109 w 12192000"/>
              <a:gd name="connsiteY43" fmla="*/ 300060 h 2685062"/>
              <a:gd name="connsiteX44" fmla="*/ 4928090 w 12192000"/>
              <a:gd name="connsiteY44" fmla="*/ 291457 h 2685062"/>
              <a:gd name="connsiteX45" fmla="*/ 4960316 w 12192000"/>
              <a:gd name="connsiteY45" fmla="*/ 287841 h 2685062"/>
              <a:gd name="connsiteX46" fmla="*/ 4960840 w 12192000"/>
              <a:gd name="connsiteY46" fmla="*/ 285406 h 2685062"/>
              <a:gd name="connsiteX47" fmla="*/ 4965958 w 12192000"/>
              <a:gd name="connsiteY47" fmla="*/ 284802 h 2685062"/>
              <a:gd name="connsiteX48" fmla="*/ 4969785 w 12192000"/>
              <a:gd name="connsiteY48" fmla="*/ 286778 h 2685062"/>
              <a:gd name="connsiteX49" fmla="*/ 4975889 w 12192000"/>
              <a:gd name="connsiteY49" fmla="*/ 286093 h 2685062"/>
              <a:gd name="connsiteX50" fmla="*/ 4992382 w 12192000"/>
              <a:gd name="connsiteY50" fmla="*/ 284871 h 2685062"/>
              <a:gd name="connsiteX51" fmla="*/ 4999094 w 12192000"/>
              <a:gd name="connsiteY51" fmla="*/ 280499 h 2685062"/>
              <a:gd name="connsiteX52" fmla="*/ 5080965 w 12192000"/>
              <a:gd name="connsiteY52" fmla="*/ 282208 h 2685062"/>
              <a:gd name="connsiteX53" fmla="*/ 5105166 w 12192000"/>
              <a:gd name="connsiteY53" fmla="*/ 276473 h 2685062"/>
              <a:gd name="connsiteX54" fmla="*/ 5168054 w 12192000"/>
              <a:gd name="connsiteY54" fmla="*/ 280137 h 2685062"/>
              <a:gd name="connsiteX55" fmla="*/ 5239940 w 12192000"/>
              <a:gd name="connsiteY55" fmla="*/ 278079 h 2685062"/>
              <a:gd name="connsiteX56" fmla="*/ 5291998 w 12192000"/>
              <a:gd name="connsiteY56" fmla="*/ 272685 h 2685062"/>
              <a:gd name="connsiteX57" fmla="*/ 5425861 w 12192000"/>
              <a:gd name="connsiteY57" fmla="*/ 279926 h 2685062"/>
              <a:gd name="connsiteX58" fmla="*/ 5648321 w 12192000"/>
              <a:gd name="connsiteY58" fmla="*/ 300693 h 2685062"/>
              <a:gd name="connsiteX59" fmla="*/ 5695414 w 12192000"/>
              <a:gd name="connsiteY59" fmla="*/ 303150 h 2685062"/>
              <a:gd name="connsiteX60" fmla="*/ 5743064 w 12192000"/>
              <a:gd name="connsiteY60" fmla="*/ 289335 h 2685062"/>
              <a:gd name="connsiteX61" fmla="*/ 5768797 w 12192000"/>
              <a:gd name="connsiteY61" fmla="*/ 289436 h 2685062"/>
              <a:gd name="connsiteX62" fmla="*/ 5775419 w 12192000"/>
              <a:gd name="connsiteY62" fmla="*/ 287831 h 2685062"/>
              <a:gd name="connsiteX63" fmla="*/ 5813624 w 12192000"/>
              <a:gd name="connsiteY63" fmla="*/ 280263 h 2685062"/>
              <a:gd name="connsiteX64" fmla="*/ 5900676 w 12192000"/>
              <a:gd name="connsiteY64" fmla="*/ 304615 h 2685062"/>
              <a:gd name="connsiteX65" fmla="*/ 5966795 w 12192000"/>
              <a:gd name="connsiteY65" fmla="*/ 314993 h 2685062"/>
              <a:gd name="connsiteX66" fmla="*/ 5972463 w 12192000"/>
              <a:gd name="connsiteY66" fmla="*/ 313217 h 2685062"/>
              <a:gd name="connsiteX67" fmla="*/ 5977754 w 12192000"/>
              <a:gd name="connsiteY67" fmla="*/ 307726 h 2685062"/>
              <a:gd name="connsiteX68" fmla="*/ 5990232 w 12192000"/>
              <a:gd name="connsiteY68" fmla="*/ 306694 h 2685062"/>
              <a:gd name="connsiteX69" fmla="*/ 6003260 w 12192000"/>
              <a:gd name="connsiteY69" fmla="*/ 301250 h 2685062"/>
              <a:gd name="connsiteX70" fmla="*/ 6398655 w 12192000"/>
              <a:gd name="connsiteY70" fmla="*/ 340447 h 2685062"/>
              <a:gd name="connsiteX71" fmla="*/ 6477250 w 12192000"/>
              <a:gd name="connsiteY71" fmla="*/ 370643 h 2685062"/>
              <a:gd name="connsiteX72" fmla="*/ 6599996 w 12192000"/>
              <a:gd name="connsiteY72" fmla="*/ 371929 h 2685062"/>
              <a:gd name="connsiteX73" fmla="*/ 6673632 w 12192000"/>
              <a:gd name="connsiteY73" fmla="*/ 384303 h 2685062"/>
              <a:gd name="connsiteX74" fmla="*/ 6685461 w 12192000"/>
              <a:gd name="connsiteY74" fmla="*/ 379698 h 2685062"/>
              <a:gd name="connsiteX75" fmla="*/ 6782761 w 12192000"/>
              <a:gd name="connsiteY75" fmla="*/ 421766 h 2685062"/>
              <a:gd name="connsiteX76" fmla="*/ 6934599 w 12192000"/>
              <a:gd name="connsiteY76" fmla="*/ 432626 h 2685062"/>
              <a:gd name="connsiteX77" fmla="*/ 7050728 w 12192000"/>
              <a:gd name="connsiteY77" fmla="*/ 432695 h 2685062"/>
              <a:gd name="connsiteX78" fmla="*/ 7115167 w 12192000"/>
              <a:gd name="connsiteY78" fmla="*/ 436243 h 2685062"/>
              <a:gd name="connsiteX79" fmla="*/ 7162809 w 12192000"/>
              <a:gd name="connsiteY79" fmla="*/ 434931 h 2685062"/>
              <a:gd name="connsiteX80" fmla="*/ 7280034 w 12192000"/>
              <a:gd name="connsiteY80" fmla="*/ 452539 h 2685062"/>
              <a:gd name="connsiteX81" fmla="*/ 7472654 w 12192000"/>
              <a:gd name="connsiteY81" fmla="*/ 490482 h 2685062"/>
              <a:gd name="connsiteX82" fmla="*/ 7696080 w 12192000"/>
              <a:gd name="connsiteY82" fmla="*/ 514010 h 2685062"/>
              <a:gd name="connsiteX83" fmla="*/ 7788139 w 12192000"/>
              <a:gd name="connsiteY83" fmla="*/ 518649 h 2685062"/>
              <a:gd name="connsiteX84" fmla="*/ 8227756 w 12192000"/>
              <a:gd name="connsiteY84" fmla="*/ 558548 h 2685062"/>
              <a:gd name="connsiteX85" fmla="*/ 8328859 w 12192000"/>
              <a:gd name="connsiteY85" fmla="*/ 582867 h 2685062"/>
              <a:gd name="connsiteX86" fmla="*/ 8532898 w 12192000"/>
              <a:gd name="connsiteY86" fmla="*/ 668282 h 2685062"/>
              <a:gd name="connsiteX87" fmla="*/ 8792925 w 12192000"/>
              <a:gd name="connsiteY87" fmla="*/ 701900 h 2685062"/>
              <a:gd name="connsiteX88" fmla="*/ 8809491 w 12192000"/>
              <a:gd name="connsiteY88" fmla="*/ 717262 h 2685062"/>
              <a:gd name="connsiteX89" fmla="*/ 8814066 w 12192000"/>
              <a:gd name="connsiteY89" fmla="*/ 719410 h 2685062"/>
              <a:gd name="connsiteX90" fmla="*/ 8815751 w 12192000"/>
              <a:gd name="connsiteY90" fmla="*/ 718686 h 2685062"/>
              <a:gd name="connsiteX91" fmla="*/ 8840540 w 12192000"/>
              <a:gd name="connsiteY91" fmla="*/ 717083 h 2685062"/>
              <a:gd name="connsiteX92" fmla="*/ 8897062 w 12192000"/>
              <a:gd name="connsiteY92" fmla="*/ 697553 h 2685062"/>
              <a:gd name="connsiteX93" fmla="*/ 8965922 w 12192000"/>
              <a:gd name="connsiteY93" fmla="*/ 672885 h 2685062"/>
              <a:gd name="connsiteX94" fmla="*/ 9016694 w 12192000"/>
              <a:gd name="connsiteY94" fmla="*/ 669496 h 2685062"/>
              <a:gd name="connsiteX95" fmla="*/ 9139695 w 12192000"/>
              <a:gd name="connsiteY95" fmla="*/ 648174 h 2685062"/>
              <a:gd name="connsiteX96" fmla="*/ 9219129 w 12192000"/>
              <a:gd name="connsiteY96" fmla="*/ 639013 h 2685062"/>
              <a:gd name="connsiteX97" fmla="*/ 9221354 w 12192000"/>
              <a:gd name="connsiteY97" fmla="*/ 638501 h 2685062"/>
              <a:gd name="connsiteX98" fmla="*/ 9237592 w 12192000"/>
              <a:gd name="connsiteY98" fmla="*/ 642494 h 2685062"/>
              <a:gd name="connsiteX99" fmla="*/ 9236570 w 12192000"/>
              <a:gd name="connsiteY99" fmla="*/ 648762 h 2685062"/>
              <a:gd name="connsiteX100" fmla="*/ 9250521 w 12192000"/>
              <a:gd name="connsiteY100" fmla="*/ 654041 h 2685062"/>
              <a:gd name="connsiteX101" fmla="*/ 9279357 w 12192000"/>
              <a:gd name="connsiteY101" fmla="*/ 653083 h 2685062"/>
              <a:gd name="connsiteX102" fmla="*/ 9289731 w 12192000"/>
              <a:gd name="connsiteY102" fmla="*/ 656356 h 2685062"/>
              <a:gd name="connsiteX103" fmla="*/ 9293723 w 12192000"/>
              <a:gd name="connsiteY103" fmla="*/ 656237 h 2685062"/>
              <a:gd name="connsiteX104" fmla="*/ 9303097 w 12192000"/>
              <a:gd name="connsiteY104" fmla="*/ 656723 h 2685062"/>
              <a:gd name="connsiteX105" fmla="*/ 9302251 w 12192000"/>
              <a:gd name="connsiteY105" fmla="*/ 652725 h 2685062"/>
              <a:gd name="connsiteX106" fmla="*/ 9314122 w 12192000"/>
              <a:gd name="connsiteY106" fmla="*/ 645860 h 2685062"/>
              <a:gd name="connsiteX107" fmla="*/ 9367772 w 12192000"/>
              <a:gd name="connsiteY107" fmla="*/ 650683 h 2685062"/>
              <a:gd name="connsiteX108" fmla="*/ 9370291 w 12192000"/>
              <a:gd name="connsiteY108" fmla="*/ 655264 h 2685062"/>
              <a:gd name="connsiteX109" fmla="*/ 9377007 w 12192000"/>
              <a:gd name="connsiteY109" fmla="*/ 656308 h 2685062"/>
              <a:gd name="connsiteX110" fmla="*/ 9382497 w 12192000"/>
              <a:gd name="connsiteY110" fmla="*/ 652427 h 2685062"/>
              <a:gd name="connsiteX111" fmla="*/ 9474013 w 12192000"/>
              <a:gd name="connsiteY111" fmla="*/ 647005 h 2685062"/>
              <a:gd name="connsiteX112" fmla="*/ 9595899 w 12192000"/>
              <a:gd name="connsiteY112" fmla="*/ 646979 h 2685062"/>
              <a:gd name="connsiteX113" fmla="*/ 9681269 w 12192000"/>
              <a:gd name="connsiteY113" fmla="*/ 669984 h 2685062"/>
              <a:gd name="connsiteX114" fmla="*/ 9689635 w 12192000"/>
              <a:gd name="connsiteY114" fmla="*/ 666408 h 2685062"/>
              <a:gd name="connsiteX115" fmla="*/ 9750215 w 12192000"/>
              <a:gd name="connsiteY115" fmla="*/ 671056 h 2685062"/>
              <a:gd name="connsiteX116" fmla="*/ 9957974 w 12192000"/>
              <a:gd name="connsiteY116" fmla="*/ 715080 h 2685062"/>
              <a:gd name="connsiteX117" fmla="*/ 10076482 w 12192000"/>
              <a:gd name="connsiteY117" fmla="*/ 723397 h 2685062"/>
              <a:gd name="connsiteX118" fmla="*/ 10119263 w 12192000"/>
              <a:gd name="connsiteY118" fmla="*/ 721877 h 2685062"/>
              <a:gd name="connsiteX119" fmla="*/ 10190893 w 12192000"/>
              <a:gd name="connsiteY119" fmla="*/ 719606 h 2685062"/>
              <a:gd name="connsiteX120" fmla="*/ 10246203 w 12192000"/>
              <a:gd name="connsiteY120" fmla="*/ 706893 h 2685062"/>
              <a:gd name="connsiteX121" fmla="*/ 10305396 w 12192000"/>
              <a:gd name="connsiteY121" fmla="*/ 709359 h 2685062"/>
              <a:gd name="connsiteX122" fmla="*/ 10316856 w 12192000"/>
              <a:gd name="connsiteY122" fmla="*/ 724179 h 2685062"/>
              <a:gd name="connsiteX123" fmla="*/ 10380919 w 12192000"/>
              <a:gd name="connsiteY123" fmla="*/ 722193 h 2685062"/>
              <a:gd name="connsiteX124" fmla="*/ 10478351 w 12192000"/>
              <a:gd name="connsiteY124" fmla="*/ 717620 h 2685062"/>
              <a:gd name="connsiteX125" fmla="*/ 10533954 w 12192000"/>
              <a:gd name="connsiteY125" fmla="*/ 718660 h 2685062"/>
              <a:gd name="connsiteX126" fmla="*/ 10686474 w 12192000"/>
              <a:gd name="connsiteY126" fmla="*/ 717507 h 2685062"/>
              <a:gd name="connsiteX127" fmla="*/ 10839729 w 12192000"/>
              <a:gd name="connsiteY127" fmla="*/ 713306 h 2685062"/>
              <a:gd name="connsiteX128" fmla="*/ 10933271 w 12192000"/>
              <a:gd name="connsiteY128" fmla="*/ 693628 h 2685062"/>
              <a:gd name="connsiteX129" fmla="*/ 11058950 w 12192000"/>
              <a:gd name="connsiteY129" fmla="*/ 692031 h 2685062"/>
              <a:gd name="connsiteX130" fmla="*/ 11080388 w 12192000"/>
              <a:gd name="connsiteY130" fmla="*/ 689245 h 2685062"/>
              <a:gd name="connsiteX131" fmla="*/ 11108911 w 12192000"/>
              <a:gd name="connsiteY131" fmla="*/ 693363 h 2685062"/>
              <a:gd name="connsiteX132" fmla="*/ 11223119 w 12192000"/>
              <a:gd name="connsiteY132" fmla="*/ 710661 h 2685062"/>
              <a:gd name="connsiteX133" fmla="*/ 11311983 w 12192000"/>
              <a:gd name="connsiteY133" fmla="*/ 731410 h 2685062"/>
              <a:gd name="connsiteX134" fmla="*/ 11426940 w 12192000"/>
              <a:gd name="connsiteY134" fmla="*/ 727340 h 2685062"/>
              <a:gd name="connsiteX135" fmla="*/ 11495624 w 12192000"/>
              <a:gd name="connsiteY135" fmla="*/ 734858 h 2685062"/>
              <a:gd name="connsiteX136" fmla="*/ 11605975 w 12192000"/>
              <a:gd name="connsiteY136" fmla="*/ 762433 h 2685062"/>
              <a:gd name="connsiteX137" fmla="*/ 11756134 w 12192000"/>
              <a:gd name="connsiteY137" fmla="*/ 765012 h 2685062"/>
              <a:gd name="connsiteX138" fmla="*/ 11789788 w 12192000"/>
              <a:gd name="connsiteY138" fmla="*/ 745316 h 2685062"/>
              <a:gd name="connsiteX139" fmla="*/ 11832833 w 12192000"/>
              <a:gd name="connsiteY139" fmla="*/ 734720 h 2685062"/>
              <a:gd name="connsiteX140" fmla="*/ 11846338 w 12192000"/>
              <a:gd name="connsiteY140" fmla="*/ 765994 h 2685062"/>
              <a:gd name="connsiteX141" fmla="*/ 11972492 w 12192000"/>
              <a:gd name="connsiteY141" fmla="*/ 796180 h 2685062"/>
              <a:gd name="connsiteX142" fmla="*/ 12035979 w 12192000"/>
              <a:gd name="connsiteY142" fmla="*/ 807835 h 2685062"/>
              <a:gd name="connsiteX143" fmla="*/ 12135850 w 12192000"/>
              <a:gd name="connsiteY143" fmla="*/ 819056 h 2685062"/>
              <a:gd name="connsiteX144" fmla="*/ 12166092 w 12192000"/>
              <a:gd name="connsiteY144" fmla="*/ 823695 h 2685062"/>
              <a:gd name="connsiteX145" fmla="*/ 12190645 w 12192000"/>
              <a:gd name="connsiteY145" fmla="*/ 826863 h 2685062"/>
              <a:gd name="connsiteX146" fmla="*/ 12192000 w 12192000"/>
              <a:gd name="connsiteY146" fmla="*/ 880762 h 2685062"/>
              <a:gd name="connsiteX147" fmla="*/ 12192000 w 12192000"/>
              <a:gd name="connsiteY147" fmla="*/ 2685062 h 2685062"/>
              <a:gd name="connsiteX148" fmla="*/ 0 w 12192000"/>
              <a:gd name="connsiteY148" fmla="*/ 2685062 h 2685062"/>
              <a:gd name="connsiteX149" fmla="*/ 0 w 12192000"/>
              <a:gd name="connsiteY149" fmla="*/ 283917 h 2685062"/>
              <a:gd name="connsiteX150" fmla="*/ 44213 w 12192000"/>
              <a:gd name="connsiteY150" fmla="*/ 302297 h 2685062"/>
              <a:gd name="connsiteX151" fmla="*/ 172465 w 12192000"/>
              <a:gd name="connsiteY151" fmla="*/ 314866 h 2685062"/>
              <a:gd name="connsiteX152" fmla="*/ 223361 w 12192000"/>
              <a:gd name="connsiteY152" fmla="*/ 304828 h 2685062"/>
              <a:gd name="connsiteX153" fmla="*/ 320595 w 12192000"/>
              <a:gd name="connsiteY153" fmla="*/ 288341 h 2685062"/>
              <a:gd name="connsiteX154" fmla="*/ 401087 w 12192000"/>
              <a:gd name="connsiteY154" fmla="*/ 246745 h 2685062"/>
              <a:gd name="connsiteX155" fmla="*/ 495839 w 12192000"/>
              <a:gd name="connsiteY155" fmla="*/ 217305 h 2685062"/>
              <a:gd name="connsiteX156" fmla="*/ 507910 w 12192000"/>
              <a:gd name="connsiteY156" fmla="*/ 219773 h 2685062"/>
              <a:gd name="connsiteX157" fmla="*/ 561428 w 12192000"/>
              <a:gd name="connsiteY157" fmla="*/ 201460 h 2685062"/>
              <a:gd name="connsiteX158" fmla="*/ 712813 w 12192000"/>
              <a:gd name="connsiteY158" fmla="*/ 151411 h 2685062"/>
              <a:gd name="connsiteX159" fmla="*/ 819366 w 12192000"/>
              <a:gd name="connsiteY159" fmla="*/ 70479 h 2685062"/>
              <a:gd name="connsiteX160" fmla="*/ 862489 w 12192000"/>
              <a:gd name="connsiteY160" fmla="*/ 63238 h 2685062"/>
              <a:gd name="connsiteX161" fmla="*/ 934387 w 12192000"/>
              <a:gd name="connsiteY161" fmla="*/ 50788 h 2685062"/>
              <a:gd name="connsiteX162" fmla="*/ 948874 w 12192000"/>
              <a:gd name="connsiteY162" fmla="*/ 55208 h 2685062"/>
              <a:gd name="connsiteX163" fmla="*/ 955237 w 12192000"/>
              <a:gd name="connsiteY163" fmla="*/ 54040 h 2685062"/>
              <a:gd name="connsiteX164" fmla="*/ 955886 w 12192000"/>
              <a:gd name="connsiteY164" fmla="*/ 54325 h 2685062"/>
              <a:gd name="connsiteX165" fmla="*/ 957239 w 12192000"/>
              <a:gd name="connsiteY165" fmla="*/ 53673 h 2685062"/>
              <a:gd name="connsiteX166" fmla="*/ 971343 w 12192000"/>
              <a:gd name="connsiteY166" fmla="*/ 51086 h 2685062"/>
              <a:gd name="connsiteX167" fmla="*/ 1002063 w 12192000"/>
              <a:gd name="connsiteY167" fmla="*/ 54158 h 2685062"/>
              <a:gd name="connsiteX168" fmla="*/ 1020663 w 12192000"/>
              <a:gd name="connsiteY168" fmla="*/ 53408 h 2685062"/>
              <a:gd name="connsiteX169" fmla="*/ 1039181 w 12192000"/>
              <a:gd name="connsiteY169" fmla="*/ 40356 h 2685062"/>
              <a:gd name="connsiteX170" fmla="*/ 1051914 w 12192000"/>
              <a:gd name="connsiteY170" fmla="*/ 39166 h 2685062"/>
              <a:gd name="connsiteX171" fmla="*/ 1054501 w 12192000"/>
              <a:gd name="connsiteY171" fmla="*/ 37372 h 2685062"/>
              <a:gd name="connsiteX172" fmla="*/ 1061859 w 12192000"/>
              <a:gd name="connsiteY172" fmla="*/ 33902 h 2685062"/>
              <a:gd name="connsiteX173" fmla="*/ 1054558 w 12192000"/>
              <a:gd name="connsiteY173" fmla="*/ 30385 h 2685062"/>
              <a:gd name="connsiteX174" fmla="*/ 1140852 w 12192000"/>
              <a:gd name="connsiteY174" fmla="*/ 17327 h 2685062"/>
              <a:gd name="connsiteX175" fmla="*/ 1214144 w 12192000"/>
              <a:gd name="connsiteY175" fmla="*/ 6192 h 2685062"/>
              <a:gd name="connsiteX176" fmla="*/ 1338122 w 12192000"/>
              <a:gd name="connsiteY176" fmla="*/ 27996 h 2685062"/>
              <a:gd name="connsiteX177" fmla="*/ 1462415 w 12192000"/>
              <a:gd name="connsiteY177" fmla="*/ 0 h 2685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192000" h="2685062">
                <a:moveTo>
                  <a:pt x="1462415" y="0"/>
                </a:moveTo>
                <a:lnTo>
                  <a:pt x="1494432" y="2457"/>
                </a:lnTo>
                <a:lnTo>
                  <a:pt x="1523667" y="11778"/>
                </a:lnTo>
                <a:lnTo>
                  <a:pt x="1523067" y="14207"/>
                </a:lnTo>
                <a:cubicBezTo>
                  <a:pt x="1523507" y="15871"/>
                  <a:pt x="1525127" y="16145"/>
                  <a:pt x="1527695" y="15715"/>
                </a:cubicBezTo>
                <a:lnTo>
                  <a:pt x="1532258" y="14518"/>
                </a:lnTo>
                <a:lnTo>
                  <a:pt x="1537796" y="16283"/>
                </a:lnTo>
                <a:lnTo>
                  <a:pt x="1553041" y="20452"/>
                </a:lnTo>
                <a:lnTo>
                  <a:pt x="1557495" y="25861"/>
                </a:lnTo>
                <a:cubicBezTo>
                  <a:pt x="1571578" y="34900"/>
                  <a:pt x="1608020" y="28047"/>
                  <a:pt x="1617448" y="40977"/>
                </a:cubicBezTo>
                <a:lnTo>
                  <a:pt x="1636697" y="39108"/>
                </a:lnTo>
                <a:lnTo>
                  <a:pt x="1657286" y="49000"/>
                </a:lnTo>
                <a:cubicBezTo>
                  <a:pt x="1676389" y="57312"/>
                  <a:pt x="1696470" y="62807"/>
                  <a:pt x="1719191" y="56920"/>
                </a:cubicBezTo>
                <a:cubicBezTo>
                  <a:pt x="1709669" y="73491"/>
                  <a:pt x="1773685" y="56115"/>
                  <a:pt x="1787126" y="71960"/>
                </a:cubicBezTo>
                <a:cubicBezTo>
                  <a:pt x="1795166" y="84864"/>
                  <a:pt x="1816465" y="82599"/>
                  <a:pt x="1834555" y="86590"/>
                </a:cubicBezTo>
                <a:cubicBezTo>
                  <a:pt x="1850712" y="99365"/>
                  <a:pt x="1937782" y="107374"/>
                  <a:pt x="1966070" y="103987"/>
                </a:cubicBezTo>
                <a:cubicBezTo>
                  <a:pt x="2043209" y="86564"/>
                  <a:pt x="2126459" y="137078"/>
                  <a:pt x="2188582" y="124532"/>
                </a:cubicBezTo>
                <a:cubicBezTo>
                  <a:pt x="2206064" y="124932"/>
                  <a:pt x="2221206" y="127247"/>
                  <a:pt x="2234811" y="130739"/>
                </a:cubicBezTo>
                <a:lnTo>
                  <a:pt x="2270005" y="143358"/>
                </a:lnTo>
                <a:lnTo>
                  <a:pt x="2274208" y="152634"/>
                </a:lnTo>
                <a:lnTo>
                  <a:pt x="2298905" y="157215"/>
                </a:lnTo>
                <a:lnTo>
                  <a:pt x="2304521" y="159957"/>
                </a:lnTo>
                <a:cubicBezTo>
                  <a:pt x="2315230" y="165224"/>
                  <a:pt x="2326016" y="170200"/>
                  <a:pt x="2337696" y="174150"/>
                </a:cubicBezTo>
                <a:cubicBezTo>
                  <a:pt x="2354259" y="137711"/>
                  <a:pt x="2439767" y="201742"/>
                  <a:pt x="2432112" y="166646"/>
                </a:cubicBezTo>
                <a:cubicBezTo>
                  <a:pt x="2482400" y="178172"/>
                  <a:pt x="2480978" y="159994"/>
                  <a:pt x="2500149" y="168723"/>
                </a:cubicBezTo>
                <a:lnTo>
                  <a:pt x="2504776" y="171455"/>
                </a:lnTo>
                <a:lnTo>
                  <a:pt x="2507358" y="177677"/>
                </a:lnTo>
                <a:lnTo>
                  <a:pt x="2518847" y="180936"/>
                </a:lnTo>
                <a:lnTo>
                  <a:pt x="2528864" y="188517"/>
                </a:lnTo>
                <a:cubicBezTo>
                  <a:pt x="2656589" y="189245"/>
                  <a:pt x="2818894" y="267460"/>
                  <a:pt x="2938613" y="248764"/>
                </a:cubicBezTo>
                <a:lnTo>
                  <a:pt x="3132513" y="229282"/>
                </a:lnTo>
                <a:cubicBezTo>
                  <a:pt x="3153391" y="218737"/>
                  <a:pt x="3187482" y="219423"/>
                  <a:pt x="3208657" y="230814"/>
                </a:cubicBezTo>
                <a:cubicBezTo>
                  <a:pt x="3212298" y="232773"/>
                  <a:pt x="3215412" y="234983"/>
                  <a:pt x="3217904" y="237375"/>
                </a:cubicBezTo>
                <a:cubicBezTo>
                  <a:pt x="3279351" y="212726"/>
                  <a:pt x="3298012" y="233121"/>
                  <a:pt x="3330150" y="214762"/>
                </a:cubicBezTo>
                <a:cubicBezTo>
                  <a:pt x="3405531" y="217422"/>
                  <a:pt x="3451160" y="247861"/>
                  <a:pt x="3480527" y="231960"/>
                </a:cubicBezTo>
                <a:cubicBezTo>
                  <a:pt x="3516075" y="238991"/>
                  <a:pt x="3553819" y="269164"/>
                  <a:pt x="3591806" y="253003"/>
                </a:cubicBezTo>
                <a:cubicBezTo>
                  <a:pt x="3586673" y="270421"/>
                  <a:pt x="3640034" y="246868"/>
                  <a:pt x="3655143" y="261318"/>
                </a:cubicBezTo>
                <a:cubicBezTo>
                  <a:pt x="3664868" y="273371"/>
                  <a:pt x="3683329" y="269035"/>
                  <a:pt x="3700191" y="271235"/>
                </a:cubicBezTo>
                <a:cubicBezTo>
                  <a:pt x="3717097" y="282363"/>
                  <a:pt x="3796016" y="281812"/>
                  <a:pt x="3820459" y="275675"/>
                </a:cubicBezTo>
                <a:cubicBezTo>
                  <a:pt x="3885463" y="250791"/>
                  <a:pt x="3969506" y="292904"/>
                  <a:pt x="4022158" y="274341"/>
                </a:cubicBezTo>
                <a:cubicBezTo>
                  <a:pt x="4084571" y="269096"/>
                  <a:pt x="4119856" y="297968"/>
                  <a:pt x="4164508" y="309117"/>
                </a:cubicBezTo>
                <a:cubicBezTo>
                  <a:pt x="4171915" y="271244"/>
                  <a:pt x="4260667" y="326583"/>
                  <a:pt x="4246843" y="292417"/>
                </a:cubicBezTo>
                <a:cubicBezTo>
                  <a:pt x="4309458" y="301142"/>
                  <a:pt x="4279869" y="266331"/>
                  <a:pt x="4337133" y="304707"/>
                </a:cubicBezTo>
                <a:cubicBezTo>
                  <a:pt x="4450694" y="292933"/>
                  <a:pt x="4593547" y="330375"/>
                  <a:pt x="4696109" y="300060"/>
                </a:cubicBezTo>
                <a:lnTo>
                  <a:pt x="4928090" y="291457"/>
                </a:lnTo>
                <a:lnTo>
                  <a:pt x="4960316" y="287841"/>
                </a:lnTo>
                <a:cubicBezTo>
                  <a:pt x="4960491" y="287029"/>
                  <a:pt x="4960665" y="286217"/>
                  <a:pt x="4960840" y="285406"/>
                </a:cubicBezTo>
                <a:cubicBezTo>
                  <a:pt x="4962018" y="283892"/>
                  <a:pt x="4963691" y="283924"/>
                  <a:pt x="4965958" y="284802"/>
                </a:cubicBezTo>
                <a:lnTo>
                  <a:pt x="4969785" y="286778"/>
                </a:lnTo>
                <a:lnTo>
                  <a:pt x="4975889" y="286093"/>
                </a:lnTo>
                <a:lnTo>
                  <a:pt x="4992382" y="284871"/>
                </a:lnTo>
                <a:lnTo>
                  <a:pt x="4999094" y="280499"/>
                </a:lnTo>
                <a:lnTo>
                  <a:pt x="5080965" y="282208"/>
                </a:lnTo>
                <a:lnTo>
                  <a:pt x="5105166" y="276473"/>
                </a:lnTo>
                <a:cubicBezTo>
                  <a:pt x="5127226" y="271982"/>
                  <a:pt x="5148953" y="270367"/>
                  <a:pt x="5168054" y="280137"/>
                </a:cubicBezTo>
                <a:cubicBezTo>
                  <a:pt x="5166431" y="262533"/>
                  <a:pt x="5219894" y="290815"/>
                  <a:pt x="5239940" y="278079"/>
                </a:cubicBezTo>
                <a:cubicBezTo>
                  <a:pt x="5253484" y="267178"/>
                  <a:pt x="5272860" y="273220"/>
                  <a:pt x="5291998" y="272685"/>
                </a:cubicBezTo>
                <a:cubicBezTo>
                  <a:pt x="5313255" y="263383"/>
                  <a:pt x="5400292" y="271538"/>
                  <a:pt x="5425861" y="279926"/>
                </a:cubicBezTo>
                <a:cubicBezTo>
                  <a:pt x="5491875" y="310639"/>
                  <a:pt x="5594484" y="277380"/>
                  <a:pt x="5648321" y="300693"/>
                </a:cubicBezTo>
                <a:cubicBezTo>
                  <a:pt x="5665248" y="303486"/>
                  <a:pt x="5680800" y="304021"/>
                  <a:pt x="5695414" y="303150"/>
                </a:cubicBezTo>
                <a:lnTo>
                  <a:pt x="5743064" y="289335"/>
                </a:lnTo>
                <a:lnTo>
                  <a:pt x="5768797" y="289436"/>
                </a:lnTo>
                <a:lnTo>
                  <a:pt x="5775419" y="287831"/>
                </a:lnTo>
                <a:cubicBezTo>
                  <a:pt x="5788059" y="284732"/>
                  <a:pt x="5800646" y="281926"/>
                  <a:pt x="5813624" y="280263"/>
                </a:cubicBezTo>
                <a:cubicBezTo>
                  <a:pt x="5812999" y="318182"/>
                  <a:pt x="5923892" y="272386"/>
                  <a:pt x="5900676" y="304615"/>
                </a:cubicBezTo>
                <a:cubicBezTo>
                  <a:pt x="5954067" y="302717"/>
                  <a:pt x="5944477" y="319870"/>
                  <a:pt x="5966795" y="314993"/>
                </a:cubicBezTo>
                <a:lnTo>
                  <a:pt x="5972463" y="313217"/>
                </a:lnTo>
                <a:lnTo>
                  <a:pt x="5977754" y="307726"/>
                </a:lnTo>
                <a:lnTo>
                  <a:pt x="5990232" y="306694"/>
                </a:lnTo>
                <a:lnTo>
                  <a:pt x="6003260" y="301250"/>
                </a:lnTo>
                <a:cubicBezTo>
                  <a:pt x="6125949" y="323771"/>
                  <a:pt x="6292426" y="300774"/>
                  <a:pt x="6398655" y="340447"/>
                </a:cubicBezTo>
                <a:lnTo>
                  <a:pt x="6477250" y="370643"/>
                </a:lnTo>
                <a:cubicBezTo>
                  <a:pt x="6518147" y="382960"/>
                  <a:pt x="6560561" y="347277"/>
                  <a:pt x="6599996" y="371929"/>
                </a:cubicBezTo>
                <a:cubicBezTo>
                  <a:pt x="6615225" y="385828"/>
                  <a:pt x="6648193" y="391366"/>
                  <a:pt x="6673632" y="384303"/>
                </a:cubicBezTo>
                <a:cubicBezTo>
                  <a:pt x="6678009" y="383088"/>
                  <a:pt x="6681993" y="381536"/>
                  <a:pt x="6685461" y="379698"/>
                </a:cubicBezTo>
                <a:cubicBezTo>
                  <a:pt x="6733172" y="414481"/>
                  <a:pt x="6760278" y="398336"/>
                  <a:pt x="6782761" y="421766"/>
                </a:cubicBezTo>
                <a:cubicBezTo>
                  <a:pt x="6856177" y="432921"/>
                  <a:pt x="6913662" y="412056"/>
                  <a:pt x="6934599" y="432626"/>
                </a:cubicBezTo>
                <a:cubicBezTo>
                  <a:pt x="6971837" y="432351"/>
                  <a:pt x="7021650" y="410307"/>
                  <a:pt x="7050728" y="432695"/>
                </a:cubicBezTo>
                <a:cubicBezTo>
                  <a:pt x="7053692" y="415076"/>
                  <a:pt x="7094152" y="447339"/>
                  <a:pt x="7115167" y="436243"/>
                </a:cubicBezTo>
                <a:cubicBezTo>
                  <a:pt x="7129937" y="426464"/>
                  <a:pt x="7145660" y="433973"/>
                  <a:pt x="7162809" y="434931"/>
                </a:cubicBezTo>
                <a:cubicBezTo>
                  <a:pt x="7184039" y="427343"/>
                  <a:pt x="7259393" y="442217"/>
                  <a:pt x="7280034" y="452539"/>
                </a:cubicBezTo>
                <a:cubicBezTo>
                  <a:pt x="7331046" y="488194"/>
                  <a:pt x="7430616" y="463128"/>
                  <a:pt x="7472654" y="490482"/>
                </a:cubicBezTo>
                <a:cubicBezTo>
                  <a:pt x="7541994" y="500728"/>
                  <a:pt x="7643498" y="509315"/>
                  <a:pt x="7696080" y="514010"/>
                </a:cubicBezTo>
                <a:cubicBezTo>
                  <a:pt x="7760013" y="517032"/>
                  <a:pt x="7715914" y="545003"/>
                  <a:pt x="7788139" y="518649"/>
                </a:cubicBezTo>
                <a:cubicBezTo>
                  <a:pt x="7891601" y="550571"/>
                  <a:pt x="8143222" y="510864"/>
                  <a:pt x="8227756" y="558548"/>
                </a:cubicBezTo>
                <a:cubicBezTo>
                  <a:pt x="8317876" y="569251"/>
                  <a:pt x="8261697" y="569546"/>
                  <a:pt x="8328859" y="582867"/>
                </a:cubicBezTo>
                <a:cubicBezTo>
                  <a:pt x="8336976" y="627379"/>
                  <a:pt x="8495085" y="643261"/>
                  <a:pt x="8532898" y="668282"/>
                </a:cubicBezTo>
                <a:cubicBezTo>
                  <a:pt x="8626867" y="678146"/>
                  <a:pt x="8698118" y="715603"/>
                  <a:pt x="8792925" y="701900"/>
                </a:cubicBezTo>
                <a:cubicBezTo>
                  <a:pt x="8796856" y="707882"/>
                  <a:pt x="8802564" y="712918"/>
                  <a:pt x="8809491" y="717262"/>
                </a:cubicBezTo>
                <a:lnTo>
                  <a:pt x="8814066" y="719410"/>
                </a:lnTo>
                <a:lnTo>
                  <a:pt x="8815751" y="718686"/>
                </a:lnTo>
                <a:cubicBezTo>
                  <a:pt x="8822134" y="717141"/>
                  <a:pt x="8829906" y="716502"/>
                  <a:pt x="8840540" y="717083"/>
                </a:cubicBezTo>
                <a:cubicBezTo>
                  <a:pt x="8844566" y="676948"/>
                  <a:pt x="8862586" y="704813"/>
                  <a:pt x="8897062" y="697553"/>
                </a:cubicBezTo>
                <a:cubicBezTo>
                  <a:pt x="8926967" y="693826"/>
                  <a:pt x="8941387" y="680067"/>
                  <a:pt x="8965922" y="672885"/>
                </a:cubicBezTo>
                <a:cubicBezTo>
                  <a:pt x="8985861" y="668208"/>
                  <a:pt x="8990451" y="680326"/>
                  <a:pt x="9016694" y="669496"/>
                </a:cubicBezTo>
                <a:cubicBezTo>
                  <a:pt x="9064226" y="680468"/>
                  <a:pt x="9102961" y="653230"/>
                  <a:pt x="9139695" y="648174"/>
                </a:cubicBezTo>
                <a:cubicBezTo>
                  <a:pt x="9151373" y="649226"/>
                  <a:pt x="9186538" y="645057"/>
                  <a:pt x="9219129" y="639013"/>
                </a:cubicBezTo>
                <a:lnTo>
                  <a:pt x="9221354" y="638501"/>
                </a:lnTo>
                <a:lnTo>
                  <a:pt x="9237592" y="642494"/>
                </a:lnTo>
                <a:cubicBezTo>
                  <a:pt x="9241555" y="644212"/>
                  <a:pt x="9242210" y="646204"/>
                  <a:pt x="9236570" y="648762"/>
                </a:cubicBezTo>
                <a:cubicBezTo>
                  <a:pt x="9241114" y="652055"/>
                  <a:pt x="9245782" y="653517"/>
                  <a:pt x="9250521" y="654041"/>
                </a:cubicBezTo>
                <a:cubicBezTo>
                  <a:pt x="9259996" y="655089"/>
                  <a:pt x="9269753" y="652386"/>
                  <a:pt x="9279357" y="653083"/>
                </a:cubicBezTo>
                <a:lnTo>
                  <a:pt x="9289731" y="656356"/>
                </a:lnTo>
                <a:lnTo>
                  <a:pt x="9293723" y="656237"/>
                </a:lnTo>
                <a:lnTo>
                  <a:pt x="9303097" y="656723"/>
                </a:lnTo>
                <a:lnTo>
                  <a:pt x="9302251" y="652725"/>
                </a:lnTo>
                <a:cubicBezTo>
                  <a:pt x="9300561" y="648869"/>
                  <a:pt x="9299408" y="644676"/>
                  <a:pt x="9314122" y="645860"/>
                </a:cubicBezTo>
                <a:cubicBezTo>
                  <a:pt x="9344433" y="650204"/>
                  <a:pt x="9356229" y="634440"/>
                  <a:pt x="9367772" y="650683"/>
                </a:cubicBezTo>
                <a:lnTo>
                  <a:pt x="9370291" y="655264"/>
                </a:lnTo>
                <a:lnTo>
                  <a:pt x="9377007" y="656308"/>
                </a:lnTo>
                <a:cubicBezTo>
                  <a:pt x="9380660" y="656340"/>
                  <a:pt x="9382824" y="655350"/>
                  <a:pt x="9382497" y="652427"/>
                </a:cubicBezTo>
                <a:cubicBezTo>
                  <a:pt x="9410043" y="665739"/>
                  <a:pt x="9444726" y="648939"/>
                  <a:pt x="9474013" y="647005"/>
                </a:cubicBezTo>
                <a:cubicBezTo>
                  <a:pt x="9494765" y="659508"/>
                  <a:pt x="9535746" y="643122"/>
                  <a:pt x="9595899" y="646979"/>
                </a:cubicBezTo>
                <a:cubicBezTo>
                  <a:pt x="9618462" y="661284"/>
                  <a:pt x="9636478" y="649421"/>
                  <a:pt x="9681269" y="669984"/>
                </a:cubicBezTo>
                <a:cubicBezTo>
                  <a:pt x="9683619" y="668616"/>
                  <a:pt x="9686437" y="667412"/>
                  <a:pt x="9689635" y="666408"/>
                </a:cubicBezTo>
                <a:cubicBezTo>
                  <a:pt x="9708219" y="660578"/>
                  <a:pt x="9735343" y="662659"/>
                  <a:pt x="9750215" y="671056"/>
                </a:cubicBezTo>
                <a:cubicBezTo>
                  <a:pt x="9822560" y="699676"/>
                  <a:pt x="9892985" y="704863"/>
                  <a:pt x="9957974" y="715080"/>
                </a:cubicBezTo>
                <a:cubicBezTo>
                  <a:pt x="10031995" y="724171"/>
                  <a:pt x="9987651" y="694466"/>
                  <a:pt x="10076482" y="723397"/>
                </a:cubicBezTo>
                <a:cubicBezTo>
                  <a:pt x="10088264" y="715403"/>
                  <a:pt x="10100170" y="715974"/>
                  <a:pt x="10119263" y="721877"/>
                </a:cubicBezTo>
                <a:cubicBezTo>
                  <a:pt x="10155360" y="725633"/>
                  <a:pt x="10156886" y="703170"/>
                  <a:pt x="10190893" y="719606"/>
                </a:cubicBezTo>
                <a:cubicBezTo>
                  <a:pt x="10186651" y="707114"/>
                  <a:pt x="10260542" y="720706"/>
                  <a:pt x="10246203" y="706893"/>
                </a:cubicBezTo>
                <a:cubicBezTo>
                  <a:pt x="10271921" y="697978"/>
                  <a:pt x="10280122" y="716866"/>
                  <a:pt x="10305396" y="709359"/>
                </a:cubicBezTo>
                <a:cubicBezTo>
                  <a:pt x="10332266" y="709354"/>
                  <a:pt x="10287753" y="720864"/>
                  <a:pt x="10316856" y="724179"/>
                </a:cubicBezTo>
                <a:cubicBezTo>
                  <a:pt x="10352558" y="726042"/>
                  <a:pt x="10348261" y="747938"/>
                  <a:pt x="10380919" y="722193"/>
                </a:cubicBezTo>
                <a:cubicBezTo>
                  <a:pt x="10416787" y="731946"/>
                  <a:pt x="10426384" y="719959"/>
                  <a:pt x="10478351" y="717620"/>
                </a:cubicBezTo>
                <a:cubicBezTo>
                  <a:pt x="10498311" y="726260"/>
                  <a:pt x="10516018" y="724144"/>
                  <a:pt x="10533954" y="718660"/>
                </a:cubicBezTo>
                <a:cubicBezTo>
                  <a:pt x="10583102" y="724237"/>
                  <a:pt x="10630104" y="717410"/>
                  <a:pt x="10686474" y="717507"/>
                </a:cubicBezTo>
                <a:cubicBezTo>
                  <a:pt x="10745160" y="730015"/>
                  <a:pt x="10779502" y="713124"/>
                  <a:pt x="10839729" y="713306"/>
                </a:cubicBezTo>
                <a:cubicBezTo>
                  <a:pt x="10895292" y="735596"/>
                  <a:pt x="10883335" y="689293"/>
                  <a:pt x="10933271" y="693628"/>
                </a:cubicBezTo>
                <a:cubicBezTo>
                  <a:pt x="11011861" y="715600"/>
                  <a:pt x="10933941" y="678563"/>
                  <a:pt x="11058950" y="692031"/>
                </a:cubicBezTo>
                <a:cubicBezTo>
                  <a:pt x="11065574" y="695312"/>
                  <a:pt x="11081347" y="693264"/>
                  <a:pt x="11080388" y="689245"/>
                </a:cubicBezTo>
                <a:cubicBezTo>
                  <a:pt x="11088176" y="690921"/>
                  <a:pt x="11106032" y="699551"/>
                  <a:pt x="11108911" y="693363"/>
                </a:cubicBezTo>
                <a:cubicBezTo>
                  <a:pt x="11149149" y="694912"/>
                  <a:pt x="11188483" y="700869"/>
                  <a:pt x="11223119" y="710661"/>
                </a:cubicBezTo>
                <a:cubicBezTo>
                  <a:pt x="11302059" y="704266"/>
                  <a:pt x="11255617" y="731239"/>
                  <a:pt x="11311983" y="731410"/>
                </a:cubicBezTo>
                <a:cubicBezTo>
                  <a:pt x="11358665" y="721567"/>
                  <a:pt x="11373894" y="732638"/>
                  <a:pt x="11426940" y="727340"/>
                </a:cubicBezTo>
                <a:cubicBezTo>
                  <a:pt x="11441993" y="748767"/>
                  <a:pt x="11476074" y="727962"/>
                  <a:pt x="11495624" y="734858"/>
                </a:cubicBezTo>
                <a:cubicBezTo>
                  <a:pt x="11530841" y="712823"/>
                  <a:pt x="11572173" y="761025"/>
                  <a:pt x="11605975" y="762433"/>
                </a:cubicBezTo>
                <a:cubicBezTo>
                  <a:pt x="11663316" y="761143"/>
                  <a:pt x="11727635" y="739871"/>
                  <a:pt x="11756134" y="765012"/>
                </a:cubicBezTo>
                <a:cubicBezTo>
                  <a:pt x="11761348" y="755468"/>
                  <a:pt x="11757526" y="741943"/>
                  <a:pt x="11789788" y="745316"/>
                </a:cubicBezTo>
                <a:cubicBezTo>
                  <a:pt x="11803253" y="740995"/>
                  <a:pt x="11807074" y="726138"/>
                  <a:pt x="11832833" y="734720"/>
                </a:cubicBezTo>
                <a:cubicBezTo>
                  <a:pt x="11798846" y="746443"/>
                  <a:pt x="11852821" y="750721"/>
                  <a:pt x="11846338" y="765994"/>
                </a:cubicBezTo>
                <a:cubicBezTo>
                  <a:pt x="11885947" y="777555"/>
                  <a:pt x="11979991" y="768560"/>
                  <a:pt x="11972492" y="796180"/>
                </a:cubicBezTo>
                <a:cubicBezTo>
                  <a:pt x="11982931" y="813135"/>
                  <a:pt x="12037186" y="790090"/>
                  <a:pt x="12035979" y="807835"/>
                </a:cubicBezTo>
                <a:cubicBezTo>
                  <a:pt x="12059694" y="797410"/>
                  <a:pt x="12098516" y="817951"/>
                  <a:pt x="12135850" y="819056"/>
                </a:cubicBezTo>
                <a:cubicBezTo>
                  <a:pt x="12142309" y="827359"/>
                  <a:pt x="12150917" y="827343"/>
                  <a:pt x="12166092" y="823695"/>
                </a:cubicBezTo>
                <a:lnTo>
                  <a:pt x="12190645" y="826863"/>
                </a:lnTo>
                <a:lnTo>
                  <a:pt x="12192000" y="880762"/>
                </a:lnTo>
                <a:lnTo>
                  <a:pt x="12192000" y="2685062"/>
                </a:lnTo>
                <a:lnTo>
                  <a:pt x="0" y="2685062"/>
                </a:lnTo>
                <a:lnTo>
                  <a:pt x="0" y="283917"/>
                </a:lnTo>
                <a:lnTo>
                  <a:pt x="44213" y="302297"/>
                </a:lnTo>
                <a:cubicBezTo>
                  <a:pt x="57125" y="321111"/>
                  <a:pt x="151150" y="310991"/>
                  <a:pt x="172465" y="314866"/>
                </a:cubicBezTo>
                <a:cubicBezTo>
                  <a:pt x="201883" y="307918"/>
                  <a:pt x="192551" y="309357"/>
                  <a:pt x="223361" y="304828"/>
                </a:cubicBezTo>
                <a:cubicBezTo>
                  <a:pt x="235273" y="283233"/>
                  <a:pt x="290082" y="292239"/>
                  <a:pt x="320595" y="288341"/>
                </a:cubicBezTo>
                <a:cubicBezTo>
                  <a:pt x="326821" y="269140"/>
                  <a:pt x="347105" y="264031"/>
                  <a:pt x="401087" y="246745"/>
                </a:cubicBezTo>
                <a:cubicBezTo>
                  <a:pt x="407068" y="225028"/>
                  <a:pt x="475269" y="251137"/>
                  <a:pt x="495839" y="217305"/>
                </a:cubicBezTo>
                <a:cubicBezTo>
                  <a:pt x="499633" y="218429"/>
                  <a:pt x="503698" y="219260"/>
                  <a:pt x="507910" y="219773"/>
                </a:cubicBezTo>
                <a:cubicBezTo>
                  <a:pt x="532375" y="222751"/>
                  <a:pt x="556339" y="214552"/>
                  <a:pt x="561428" y="201460"/>
                </a:cubicBezTo>
                <a:cubicBezTo>
                  <a:pt x="599747" y="152259"/>
                  <a:pt x="661201" y="177254"/>
                  <a:pt x="712813" y="151411"/>
                </a:cubicBezTo>
                <a:cubicBezTo>
                  <a:pt x="774420" y="124993"/>
                  <a:pt x="765426" y="123535"/>
                  <a:pt x="819366" y="70479"/>
                </a:cubicBezTo>
                <a:cubicBezTo>
                  <a:pt x="839647" y="77460"/>
                  <a:pt x="850544" y="74267"/>
                  <a:pt x="862489" y="63238"/>
                </a:cubicBezTo>
                <a:cubicBezTo>
                  <a:pt x="893284" y="51157"/>
                  <a:pt x="919686" y="77447"/>
                  <a:pt x="934387" y="50788"/>
                </a:cubicBezTo>
                <a:cubicBezTo>
                  <a:pt x="936825" y="54711"/>
                  <a:pt x="942184" y="55671"/>
                  <a:pt x="948874" y="55208"/>
                </a:cubicBezTo>
                <a:lnTo>
                  <a:pt x="955237" y="54040"/>
                </a:lnTo>
                <a:lnTo>
                  <a:pt x="955886" y="54325"/>
                </a:lnTo>
                <a:lnTo>
                  <a:pt x="957239" y="53673"/>
                </a:lnTo>
                <a:lnTo>
                  <a:pt x="971343" y="51086"/>
                </a:lnTo>
                <a:cubicBezTo>
                  <a:pt x="986863" y="47540"/>
                  <a:pt x="1001346" y="44460"/>
                  <a:pt x="1002063" y="54158"/>
                </a:cubicBezTo>
                <a:cubicBezTo>
                  <a:pt x="1010763" y="55438"/>
                  <a:pt x="1016476" y="54893"/>
                  <a:pt x="1020663" y="53408"/>
                </a:cubicBezTo>
                <a:cubicBezTo>
                  <a:pt x="1029036" y="50440"/>
                  <a:pt x="1031306" y="43717"/>
                  <a:pt x="1039181" y="40356"/>
                </a:cubicBezTo>
                <a:lnTo>
                  <a:pt x="1051914" y="39166"/>
                </a:lnTo>
                <a:lnTo>
                  <a:pt x="1054501" y="37372"/>
                </a:lnTo>
                <a:lnTo>
                  <a:pt x="1061859" y="33902"/>
                </a:lnTo>
                <a:lnTo>
                  <a:pt x="1054558" y="30385"/>
                </a:lnTo>
                <a:cubicBezTo>
                  <a:pt x="1046905" y="27358"/>
                  <a:pt x="1128596" y="22367"/>
                  <a:pt x="1140852" y="17327"/>
                </a:cubicBezTo>
                <a:lnTo>
                  <a:pt x="1214144" y="6192"/>
                </a:lnTo>
                <a:lnTo>
                  <a:pt x="1338122" y="27996"/>
                </a:lnTo>
                <a:cubicBezTo>
                  <a:pt x="1367144" y="1801"/>
                  <a:pt x="1432673" y="14019"/>
                  <a:pt x="1462415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4614F-8E81-FB78-30D2-7FE33A954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082" y="5231351"/>
            <a:ext cx="8943998" cy="856722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 to Workflow Managers and the Persistence1 Service on Alpine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30AB3-BD81-DF79-CAFE-C128EA4D1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260" y="6010752"/>
            <a:ext cx="8943820" cy="45049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By: Maclean Sherren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6E4883-77E6-128B-910A-2B6E75EF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73" y="1998639"/>
            <a:ext cx="3027384" cy="861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E714B3-22F2-B9B0-9A40-867186BA6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274" y="1007472"/>
            <a:ext cx="2843784" cy="2843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E9326D-9F31-BE07-1CAF-DCBB599B0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886" y="1672698"/>
            <a:ext cx="3026664" cy="151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2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27B4E-B3E2-D8C5-B8FB-66DCCCEE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workflow manager?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EDC3B-DA03-0789-DCEB-66C6EE638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workflow manager is a program that manages a collection of connected steps to fast track the computational process</a:t>
            </a:r>
          </a:p>
          <a:p>
            <a:endParaRPr lang="en-US" dirty="0"/>
          </a:p>
          <a:p>
            <a:r>
              <a:rPr lang="en-US" dirty="0"/>
              <a:t>They create reproducible and scalable data analysis pipelines</a:t>
            </a:r>
          </a:p>
        </p:txBody>
      </p:sp>
    </p:spTree>
    <p:extLst>
      <p:ext uri="{BB962C8B-B14F-4D97-AF65-F5344CB8AC3E}">
        <p14:creationId xmlns:p14="http://schemas.microsoft.com/office/powerpoint/2010/main" val="389330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793B-8890-9D28-EE6E-D6DC2EEE7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workflow managers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6E8E2-DA5B-6BB4-0427-BE0BF64C8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having a workflow with the following steps: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split -&gt; data conversion/configuration -&gt; workflow main function -&gt; workflow outputs</a:t>
            </a:r>
          </a:p>
          <a:p>
            <a:pPr marL="0" indent="0">
              <a:buNone/>
            </a:pPr>
            <a:r>
              <a:rPr lang="en-US" dirty="0"/>
              <a:t>Outside of a workflow manager, some of these above steps may require multiple programs, multiple jobs being run across broken up sample sizes, or a custom script to prepare the data for the main workflow function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workflow manager covers all these steps in a single script (</a:t>
            </a:r>
            <a:r>
              <a:rPr lang="en-US" dirty="0" err="1"/>
              <a:t>Nextflow</a:t>
            </a:r>
            <a:r>
              <a:rPr lang="en-US" dirty="0"/>
              <a:t> ex: </a:t>
            </a:r>
            <a:r>
              <a:rPr lang="en-US" dirty="0">
                <a:hlinkClick r:id="rId2"/>
              </a:rPr>
              <a:t>https://www.nextflow.io/basic-pipeline.html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01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1F55C5D-1648-4BE3-932D-8CADBF3F6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EA682-7A7B-2A35-B3EF-8C39C0A5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7512"/>
            <a:ext cx="10908792" cy="10698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400" dirty="0"/>
              <a:t>Workflow Managers supported on Alpine: </a:t>
            </a:r>
            <a:r>
              <a:rPr lang="en-US" sz="3400" dirty="0" err="1"/>
              <a:t>Nextflow</a:t>
            </a:r>
            <a:r>
              <a:rPr lang="en-US" sz="3400" dirty="0"/>
              <a:t>, </a:t>
            </a:r>
            <a:r>
              <a:rPr lang="en-US" sz="3400" dirty="0" err="1"/>
              <a:t>Snakemake</a:t>
            </a:r>
            <a:r>
              <a:rPr lang="en-US" sz="3400" dirty="0"/>
              <a:t>, NF-Core, </a:t>
            </a:r>
            <a:r>
              <a:rPr lang="en-US" sz="3400" dirty="0" err="1"/>
              <a:t>KinBot</a:t>
            </a:r>
            <a:endParaRPr lang="en-US" sz="34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A38E1331-B5A6-44BE-BF4E-EE6C2FD2A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0000" y="1776977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744583 w 4572000"/>
              <a:gd name="csY1" fmla="*/ 0 h 18288"/>
              <a:gd name="csX2" fmla="*/ 1352006 w 4572000"/>
              <a:gd name="csY2" fmla="*/ 0 h 18288"/>
              <a:gd name="csX3" fmla="*/ 2050869 w 4572000"/>
              <a:gd name="csY3" fmla="*/ 0 h 18288"/>
              <a:gd name="csX4" fmla="*/ 2612571 w 4572000"/>
              <a:gd name="csY4" fmla="*/ 0 h 18288"/>
              <a:gd name="csX5" fmla="*/ 3357154 w 4572000"/>
              <a:gd name="csY5" fmla="*/ 0 h 18288"/>
              <a:gd name="csX6" fmla="*/ 401029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265714 w 4572000"/>
              <a:gd name="csY10" fmla="*/ 18288 h 18288"/>
              <a:gd name="csX11" fmla="*/ 2521131 w 4572000"/>
              <a:gd name="csY11" fmla="*/ 18288 h 18288"/>
              <a:gd name="csX12" fmla="*/ 1867989 w 4572000"/>
              <a:gd name="csY12" fmla="*/ 18288 h 18288"/>
              <a:gd name="csX13" fmla="*/ 1352006 w 4572000"/>
              <a:gd name="csY13" fmla="*/ 18288 h 18288"/>
              <a:gd name="csX14" fmla="*/ 83602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335213" y="-5275"/>
                  <a:pt x="446637" y="2749"/>
                  <a:pt x="744583" y="0"/>
                </a:cubicBezTo>
                <a:cubicBezTo>
                  <a:pt x="1042529" y="-2749"/>
                  <a:pt x="1223095" y="8165"/>
                  <a:pt x="1352006" y="0"/>
                </a:cubicBezTo>
                <a:cubicBezTo>
                  <a:pt x="1480917" y="-8165"/>
                  <a:pt x="1803308" y="16240"/>
                  <a:pt x="2050869" y="0"/>
                </a:cubicBezTo>
                <a:cubicBezTo>
                  <a:pt x="2298430" y="-16240"/>
                  <a:pt x="2464656" y="-22054"/>
                  <a:pt x="2612571" y="0"/>
                </a:cubicBezTo>
                <a:cubicBezTo>
                  <a:pt x="2760486" y="22054"/>
                  <a:pt x="3034874" y="11895"/>
                  <a:pt x="3357154" y="0"/>
                </a:cubicBezTo>
                <a:cubicBezTo>
                  <a:pt x="3679434" y="-11895"/>
                  <a:pt x="3778145" y="-10841"/>
                  <a:pt x="4010297" y="0"/>
                </a:cubicBezTo>
                <a:cubicBezTo>
                  <a:pt x="4242449" y="10841"/>
                  <a:pt x="4385860" y="17261"/>
                  <a:pt x="4572000" y="0"/>
                </a:cubicBezTo>
                <a:cubicBezTo>
                  <a:pt x="4571443" y="8172"/>
                  <a:pt x="4571244" y="10948"/>
                  <a:pt x="4572000" y="18288"/>
                </a:cubicBezTo>
                <a:cubicBezTo>
                  <a:pt x="4352099" y="1269"/>
                  <a:pt x="4065933" y="40755"/>
                  <a:pt x="3873137" y="18288"/>
                </a:cubicBezTo>
                <a:cubicBezTo>
                  <a:pt x="3680341" y="-4179"/>
                  <a:pt x="3486903" y="33471"/>
                  <a:pt x="3265714" y="18288"/>
                </a:cubicBezTo>
                <a:cubicBezTo>
                  <a:pt x="3044525" y="3105"/>
                  <a:pt x="2683548" y="-1073"/>
                  <a:pt x="2521131" y="18288"/>
                </a:cubicBezTo>
                <a:cubicBezTo>
                  <a:pt x="2358714" y="37649"/>
                  <a:pt x="2132855" y="34593"/>
                  <a:pt x="1867989" y="18288"/>
                </a:cubicBezTo>
                <a:cubicBezTo>
                  <a:pt x="1603123" y="1983"/>
                  <a:pt x="1605373" y="2886"/>
                  <a:pt x="1352006" y="18288"/>
                </a:cubicBezTo>
                <a:cubicBezTo>
                  <a:pt x="1098639" y="33690"/>
                  <a:pt x="962100" y="16241"/>
                  <a:pt x="836023" y="18288"/>
                </a:cubicBezTo>
                <a:cubicBezTo>
                  <a:pt x="709946" y="20335"/>
                  <a:pt x="193668" y="-307"/>
                  <a:pt x="0" y="18288"/>
                </a:cubicBezTo>
                <a:cubicBezTo>
                  <a:pt x="-277" y="11188"/>
                  <a:pt x="-244" y="5848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58188" y="7508"/>
                  <a:pt x="361578" y="-27091"/>
                  <a:pt x="561703" y="0"/>
                </a:cubicBezTo>
                <a:cubicBezTo>
                  <a:pt x="761828" y="27091"/>
                  <a:pt x="1133811" y="14547"/>
                  <a:pt x="1306286" y="0"/>
                </a:cubicBezTo>
                <a:cubicBezTo>
                  <a:pt x="1478761" y="-14547"/>
                  <a:pt x="1809594" y="13320"/>
                  <a:pt x="2050869" y="0"/>
                </a:cubicBezTo>
                <a:cubicBezTo>
                  <a:pt x="2292144" y="-13320"/>
                  <a:pt x="2409269" y="-14334"/>
                  <a:pt x="2612571" y="0"/>
                </a:cubicBezTo>
                <a:cubicBezTo>
                  <a:pt x="2815873" y="14334"/>
                  <a:pt x="3025009" y="33536"/>
                  <a:pt x="3311434" y="0"/>
                </a:cubicBezTo>
                <a:cubicBezTo>
                  <a:pt x="3597859" y="-33536"/>
                  <a:pt x="3695431" y="-13462"/>
                  <a:pt x="3827417" y="0"/>
                </a:cubicBezTo>
                <a:cubicBezTo>
                  <a:pt x="3959403" y="13462"/>
                  <a:pt x="4360180" y="899"/>
                  <a:pt x="4572000" y="0"/>
                </a:cubicBezTo>
                <a:cubicBezTo>
                  <a:pt x="4572481" y="8890"/>
                  <a:pt x="4572898" y="10033"/>
                  <a:pt x="4572000" y="18288"/>
                </a:cubicBezTo>
                <a:cubicBezTo>
                  <a:pt x="4356830" y="5817"/>
                  <a:pt x="4021942" y="41441"/>
                  <a:pt x="3873137" y="18288"/>
                </a:cubicBezTo>
                <a:cubicBezTo>
                  <a:pt x="3724332" y="-4865"/>
                  <a:pt x="3494019" y="36771"/>
                  <a:pt x="3174274" y="18288"/>
                </a:cubicBezTo>
                <a:cubicBezTo>
                  <a:pt x="2854529" y="-195"/>
                  <a:pt x="2861023" y="5963"/>
                  <a:pt x="2658291" y="18288"/>
                </a:cubicBezTo>
                <a:cubicBezTo>
                  <a:pt x="2455559" y="30613"/>
                  <a:pt x="2309968" y="11711"/>
                  <a:pt x="2050869" y="18288"/>
                </a:cubicBezTo>
                <a:cubicBezTo>
                  <a:pt x="1791770" y="24865"/>
                  <a:pt x="1671115" y="-4587"/>
                  <a:pt x="1306286" y="18288"/>
                </a:cubicBezTo>
                <a:cubicBezTo>
                  <a:pt x="941457" y="41163"/>
                  <a:pt x="838619" y="-9452"/>
                  <a:pt x="653143" y="18288"/>
                </a:cubicBezTo>
                <a:cubicBezTo>
                  <a:pt x="467667" y="46028"/>
                  <a:pt x="308702" y="9245"/>
                  <a:pt x="0" y="18288"/>
                </a:cubicBezTo>
                <a:cubicBezTo>
                  <a:pt x="-4" y="10872"/>
                  <a:pt x="388" y="674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05D445-E617-56E6-BC25-001721603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33" y="4113849"/>
            <a:ext cx="2832069" cy="805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BC9BCD-B882-F76A-5222-B860CEAB3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938" y="3808769"/>
            <a:ext cx="2832069" cy="1416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CD31DF-A09C-3435-B6F1-315976A0C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993" y="3110911"/>
            <a:ext cx="2832069" cy="28320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86BBD6-0A73-AA7C-8AC6-8EAC3051C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797" y="3110911"/>
            <a:ext cx="2832069" cy="283206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17DFF2-88B8-6AA7-0F46-BED55F914309}"/>
              </a:ext>
            </a:extLst>
          </p:cNvPr>
          <p:cNvSpPr txBox="1">
            <a:spLocks/>
          </p:cNvSpPr>
          <p:nvPr/>
        </p:nvSpPr>
        <p:spPr>
          <a:xfrm>
            <a:off x="923193" y="21509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These are the most common workflow managers used on Alpine. </a:t>
            </a:r>
            <a:r>
              <a:rPr lang="en-US" sz="2000" dirty="0" err="1"/>
              <a:t>Nextflow</a:t>
            </a:r>
            <a:r>
              <a:rPr lang="en-US" sz="2000" dirty="0"/>
              <a:t>, </a:t>
            </a:r>
            <a:r>
              <a:rPr lang="en-US" sz="2000" dirty="0" err="1"/>
              <a:t>Snakemake</a:t>
            </a:r>
            <a:r>
              <a:rPr lang="en-US" sz="2000" dirty="0"/>
              <a:t>, and NF-Core are especially utilized by Colorado Anschutz Medical Campus users</a:t>
            </a:r>
          </a:p>
        </p:txBody>
      </p:sp>
    </p:spTree>
    <p:extLst>
      <p:ext uri="{BB962C8B-B14F-4D97-AF65-F5344CB8AC3E}">
        <p14:creationId xmlns:p14="http://schemas.microsoft.com/office/powerpoint/2010/main" val="130012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1240-21AE-B650-D7F5-148AE160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Persistence1 on Alpine?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16200-01AB-A673-5F66-3257D46B0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Persistence1 is a dedicated service for running long-lived workflow managers that coordinate jobs on Alpine</a:t>
            </a:r>
          </a:p>
          <a:p>
            <a:r>
              <a:rPr lang="en-US" dirty="0"/>
              <a:t>It exists because of the specific demands of these managers, such as processes that remain active for days or even weeks while monitoring workflow processes and submitting jobs to the cluster</a:t>
            </a:r>
          </a:p>
          <a:p>
            <a:r>
              <a:rPr lang="en-US" dirty="0"/>
              <a:t>Because of these demands, such jobs are not sustainable at scale in standard </a:t>
            </a:r>
            <a:r>
              <a:rPr lang="en-US" dirty="0" err="1"/>
              <a:t>Slurm</a:t>
            </a:r>
            <a:r>
              <a:rPr lang="en-US" dirty="0"/>
              <a:t> jobs and should not be run on login nodes</a:t>
            </a:r>
          </a:p>
          <a:p>
            <a:r>
              <a:rPr lang="en-US" dirty="0"/>
              <a:t>Persistence1 provides a dedicated environment where users can run workflow managers and other workflow orchestration tools that require continuous execution while maintaining access to Alpine resources.</a:t>
            </a:r>
          </a:p>
        </p:txBody>
      </p:sp>
    </p:spTree>
    <p:extLst>
      <p:ext uri="{BB962C8B-B14F-4D97-AF65-F5344CB8AC3E}">
        <p14:creationId xmlns:p14="http://schemas.microsoft.com/office/powerpoint/2010/main" val="3593052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5327-0DC8-49A9-4D92-AAEA637C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Persistence1 Disclaimer (!)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4E01-7906-6CB6-4DE8-58170A5FE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Persistence1 is not intended for running computationally intensive workloads directly, interactive analysis, high-memory applications or replacing </a:t>
            </a:r>
            <a:r>
              <a:rPr lang="en-US" dirty="0" err="1"/>
              <a:t>Slurm</a:t>
            </a:r>
            <a:r>
              <a:rPr lang="en-US" dirty="0"/>
              <a:t> job submissions.</a:t>
            </a:r>
          </a:p>
          <a:p>
            <a:endParaRPr lang="en-US" dirty="0"/>
          </a:p>
          <a:p>
            <a:r>
              <a:rPr lang="en-US" dirty="0"/>
              <a:t>Such analysis and </a:t>
            </a:r>
            <a:r>
              <a:rPr lang="en-US" dirty="0">
                <a:solidFill>
                  <a:srgbClr val="FF0000"/>
                </a:solidFill>
              </a:rPr>
              <a:t>high-memory applications </a:t>
            </a:r>
            <a:r>
              <a:rPr lang="en-US" dirty="0"/>
              <a:t>should still be run through the </a:t>
            </a:r>
            <a:r>
              <a:rPr lang="en-US" dirty="0" err="1"/>
              <a:t>Slurm</a:t>
            </a:r>
            <a:r>
              <a:rPr lang="en-US" dirty="0"/>
              <a:t> job scheduler, though the orchestrator itself can be left running on Persistence1</a:t>
            </a:r>
          </a:p>
          <a:p>
            <a:endParaRPr lang="en-US" dirty="0"/>
          </a:p>
          <a:p>
            <a:r>
              <a:rPr lang="en-US" dirty="0"/>
              <a:t>Persistence1 has a wall time of 30 days for an orchestrator to run, but the </a:t>
            </a:r>
            <a:r>
              <a:rPr lang="en-US" dirty="0" err="1"/>
              <a:t>Slurm</a:t>
            </a:r>
            <a:r>
              <a:rPr lang="en-US" dirty="0"/>
              <a:t> jobs submitted by the orchestrator still have a wall time of </a:t>
            </a:r>
            <a:r>
              <a:rPr lang="en-US" dirty="0">
                <a:solidFill>
                  <a:srgbClr val="FF0000"/>
                </a:solidFill>
              </a:rPr>
              <a:t>7 days!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000" dirty="0"/>
              <a:t>For more info, see the example in the slides below</a:t>
            </a:r>
          </a:p>
        </p:txBody>
      </p:sp>
    </p:spTree>
    <p:extLst>
      <p:ext uri="{BB962C8B-B14F-4D97-AF65-F5344CB8AC3E}">
        <p14:creationId xmlns:p14="http://schemas.microsoft.com/office/powerpoint/2010/main" val="350076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D019-DC7E-3EB9-B266-C874AAB8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Persistence1 on Alpine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1F79-7C5E-9A5D-9445-7E37D3667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8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Users with access to the Persistence1 service can connect with:</a:t>
            </a:r>
          </a:p>
          <a:p>
            <a:r>
              <a:rPr lang="en-US" dirty="0"/>
              <a:t>ssh persistence1</a:t>
            </a:r>
          </a:p>
          <a:p>
            <a:pPr marL="0" indent="0">
              <a:buNone/>
            </a:pPr>
            <a:r>
              <a:rPr lang="en-US" dirty="0"/>
              <a:t>From there, users will have access to their /home, /projects, /scratch/alpine, and (if available) Peta Library directories</a:t>
            </a:r>
          </a:p>
          <a:p>
            <a:pPr marL="0" indent="0">
              <a:buNone/>
            </a:pPr>
            <a:r>
              <a:rPr lang="en-US" dirty="0"/>
              <a:t>Users can:</a:t>
            </a:r>
          </a:p>
          <a:p>
            <a:r>
              <a:rPr lang="en-US" sz="2400" dirty="0"/>
              <a:t>Run container-based workflow managers through </a:t>
            </a:r>
            <a:r>
              <a:rPr lang="en-US" sz="2400" dirty="0" err="1"/>
              <a:t>Apptainer</a:t>
            </a:r>
            <a:endParaRPr lang="en-US" sz="2400" dirty="0"/>
          </a:p>
          <a:p>
            <a:r>
              <a:rPr lang="en-US" sz="2400" dirty="0"/>
              <a:t>Use the </a:t>
            </a:r>
            <a:r>
              <a:rPr lang="en-US" sz="2400" dirty="0" err="1"/>
              <a:t>Miniforge</a:t>
            </a:r>
            <a:r>
              <a:rPr lang="en-US" sz="2400" dirty="0"/>
              <a:t> module to create and manage Conda environments that include workflow managers such as </a:t>
            </a:r>
            <a:r>
              <a:rPr lang="en-US" sz="2400" dirty="0" err="1"/>
              <a:t>nf</a:t>
            </a:r>
            <a:r>
              <a:rPr lang="en-US" sz="2400" dirty="0"/>
              <a:t>-core and </a:t>
            </a:r>
            <a:r>
              <a:rPr lang="en-US" sz="2400" dirty="0" err="1"/>
              <a:t>snakemake</a:t>
            </a:r>
            <a:endParaRPr lang="en-US" sz="2400" dirty="0"/>
          </a:p>
          <a:p>
            <a:r>
              <a:rPr lang="en-US" sz="2400" dirty="0"/>
              <a:t>Directly load and use modules for workflow managers such as </a:t>
            </a:r>
            <a:r>
              <a:rPr lang="en-US" sz="2400" dirty="0" err="1"/>
              <a:t>Nextflow</a:t>
            </a:r>
            <a:endParaRPr lang="en-US" sz="2400" dirty="0"/>
          </a:p>
          <a:p>
            <a:r>
              <a:rPr lang="en-US" sz="2400" dirty="0"/>
              <a:t>Persistence1 has 8 cores and 8GB of RAM available.</a:t>
            </a:r>
          </a:p>
          <a:p>
            <a:r>
              <a:rPr lang="en-US" sz="2400" dirty="0"/>
              <a:t>The wall time is whenever the next planned maintenance is, so at the most, about a month. However; jobs submitted by orchestrators through </a:t>
            </a:r>
            <a:r>
              <a:rPr lang="en-US" sz="2400" dirty="0" err="1"/>
              <a:t>slurm</a:t>
            </a:r>
            <a:r>
              <a:rPr lang="en-US" sz="2400" dirty="0"/>
              <a:t> have a wall time of 7 days</a:t>
            </a:r>
          </a:p>
        </p:txBody>
      </p:sp>
    </p:spTree>
    <p:extLst>
      <p:ext uri="{BB962C8B-B14F-4D97-AF65-F5344CB8AC3E}">
        <p14:creationId xmlns:p14="http://schemas.microsoft.com/office/powerpoint/2010/main" val="1058092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04DA-9491-046C-C8F6-62DA7CEA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Modules Available (and NOT Available) on Persistence1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26894-C67B-9742-38B1-E683A4ED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Available modules:</a:t>
            </a:r>
          </a:p>
          <a:p>
            <a:r>
              <a:rPr lang="en-US" dirty="0" err="1"/>
              <a:t>miniforge</a:t>
            </a:r>
            <a:r>
              <a:rPr lang="en-US" dirty="0"/>
              <a:t>, </a:t>
            </a:r>
            <a:r>
              <a:rPr lang="en-US" dirty="0" err="1"/>
              <a:t>nextflow</a:t>
            </a:r>
            <a:r>
              <a:rPr lang="en-US" dirty="0"/>
              <a:t> versions 22.10.6, 23.04, 24.04.4, and 25.10.2, </a:t>
            </a:r>
            <a:r>
              <a:rPr lang="en-US" dirty="0" err="1"/>
              <a:t>curc</a:t>
            </a:r>
            <a:r>
              <a:rPr lang="en-US" dirty="0"/>
              <a:t>-quota and </a:t>
            </a:r>
            <a:r>
              <a:rPr lang="en-US" dirty="0" err="1"/>
              <a:t>slurm</a:t>
            </a:r>
            <a:r>
              <a:rPr lang="en-US" dirty="0"/>
              <a:t> (for </a:t>
            </a:r>
            <a:r>
              <a:rPr lang="en-US" dirty="0" err="1"/>
              <a:t>slurm</a:t>
            </a:r>
            <a:r>
              <a:rPr lang="en-US" dirty="0"/>
              <a:t> commands, not for running jobs!)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Notable unavailable modules:</a:t>
            </a:r>
          </a:p>
          <a:p>
            <a:r>
              <a:rPr lang="en-US" dirty="0" err="1"/>
              <a:t>Nf</a:t>
            </a:r>
            <a:r>
              <a:rPr lang="en-US" dirty="0"/>
              <a:t>-core, </a:t>
            </a:r>
            <a:r>
              <a:rPr lang="en-US" dirty="0" err="1"/>
              <a:t>snakemake</a:t>
            </a:r>
            <a:r>
              <a:rPr lang="en-US" dirty="0"/>
              <a:t>, R, python (all can be installed within a </a:t>
            </a:r>
            <a:r>
              <a:rPr lang="en-US" dirty="0" err="1"/>
              <a:t>miniforge</a:t>
            </a:r>
            <a:r>
              <a:rPr lang="en-US" dirty="0"/>
              <a:t> environment), as well as all other modules available on the compute side of Alpine</a:t>
            </a:r>
          </a:p>
        </p:txBody>
      </p:sp>
    </p:spTree>
    <p:extLst>
      <p:ext uri="{BB962C8B-B14F-4D97-AF65-F5344CB8AC3E}">
        <p14:creationId xmlns:p14="http://schemas.microsoft.com/office/powerpoint/2010/main" val="999426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A15D-F988-3657-D9CB-B02C0A26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Set up: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D9187-A85B-5D87-CA28-F9F6D12BB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Nextflow</a:t>
            </a:r>
            <a:r>
              <a:rPr lang="en-US" dirty="0"/>
              <a:t> requires considerable setup, including a config file:</a:t>
            </a:r>
          </a:p>
          <a:p>
            <a:pPr lvl="1"/>
            <a:r>
              <a:rPr lang="en-US" dirty="0">
                <a:hlinkClick r:id="rId2"/>
              </a:rPr>
              <a:t>https://github.com/kf-cuanschutz/CU-Anschutz-HPC-documentation/blob/main/Workshops/curc_alpine.config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Basic upload instructions:</a:t>
            </a:r>
          </a:p>
          <a:p>
            <a:r>
              <a:rPr lang="en-US" dirty="0"/>
              <a:t>“cd /projects/$USER/software”</a:t>
            </a:r>
          </a:p>
          <a:p>
            <a:r>
              <a:rPr lang="en-US" dirty="0"/>
              <a:t>“</a:t>
            </a:r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nextflow_config</a:t>
            </a:r>
            <a:r>
              <a:rPr lang="en-US" dirty="0"/>
              <a:t>”</a:t>
            </a:r>
          </a:p>
          <a:p>
            <a:r>
              <a:rPr lang="en-US" dirty="0"/>
              <a:t>Upload </a:t>
            </a:r>
            <a:r>
              <a:rPr lang="en-US" dirty="0" err="1"/>
              <a:t>curc_alpine.config</a:t>
            </a:r>
            <a:r>
              <a:rPr lang="en-US" dirty="0"/>
              <a:t> file found in the </a:t>
            </a:r>
            <a:r>
              <a:rPr lang="en-US" dirty="0" err="1"/>
              <a:t>github</a:t>
            </a:r>
            <a:r>
              <a:rPr lang="en-US" dirty="0"/>
              <a:t> link above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dirty="0"/>
              <a:t>Credit to user Thomas </a:t>
            </a:r>
            <a:r>
              <a:rPr lang="en-US" sz="1600" dirty="0" err="1"/>
              <a:t>Danhorn</a:t>
            </a:r>
            <a:r>
              <a:rPr lang="en-US" sz="1600" dirty="0"/>
              <a:t> for creating the original </a:t>
            </a:r>
            <a:r>
              <a:rPr lang="en-US" sz="1600" dirty="0" err="1"/>
              <a:t>curc_alpine.config</a:t>
            </a:r>
            <a:r>
              <a:rPr lang="en-US" sz="1600" dirty="0"/>
              <a:t> file and sharing it with the campus userbase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245AF-9D5E-E5C0-734E-9C9D3F3B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49125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Nextflow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Configuration options within the </a:t>
            </a:r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curc_alpine.config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file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8F504-F22E-F0DE-FF2A-654347A2E3A2}"/>
              </a:ext>
            </a:extLst>
          </p:cNvPr>
          <p:cNvSpPr txBox="1"/>
          <p:nvPr/>
        </p:nvSpPr>
        <p:spPr>
          <a:xfrm>
            <a:off x="304800" y="2660903"/>
            <a:ext cx="6715760" cy="417880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Rename “profile contact” to your name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000" dirty="0"/>
            </a:br>
            <a:r>
              <a:rPr lang="en-US" sz="2000" dirty="0"/>
              <a:t>In the process section: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sets the orchestrator up to use SLURM when running a series of jobs. Note here it selects all the appropriate </a:t>
            </a:r>
            <a:r>
              <a:rPr lang="en-US" sz="2000" dirty="0" err="1"/>
              <a:t>slurm</a:t>
            </a:r>
            <a:r>
              <a:rPr lang="en-US" sz="2000" dirty="0"/>
              <a:t> flags and gives each process a 24 hour wall time.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In the params section: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section is for the TOTAL orchestrator resources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Max memory should be adjusted according to your needs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Max </a:t>
            </a:r>
            <a:r>
              <a:rPr lang="en-US" sz="2000" dirty="0" err="1"/>
              <a:t>cpus</a:t>
            </a:r>
            <a:r>
              <a:rPr lang="en-US" sz="2000" dirty="0"/>
              <a:t> should be adjusted according to your needs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Max time can be adjusted up to 7 days; this is the wall time for the total jobs run on </a:t>
            </a:r>
            <a:r>
              <a:rPr lang="en-US" sz="2000" dirty="0" err="1"/>
              <a:t>Slurm</a:t>
            </a:r>
            <a:r>
              <a:rPr lang="en-US" sz="2000" dirty="0"/>
              <a:t> via the </a:t>
            </a:r>
            <a:r>
              <a:rPr lang="en-US" sz="2000" dirty="0" err="1"/>
              <a:t>nextflow</a:t>
            </a:r>
            <a:r>
              <a:rPr lang="en-US" sz="2000" dirty="0"/>
              <a:t> orchestrator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32798F-A689-7DA1-CCFE-849F6A26F856}"/>
              </a:ext>
            </a:extLst>
          </p:cNvPr>
          <p:cNvCxnSpPr>
            <a:cxnSpLocks/>
          </p:cNvCxnSpPr>
          <p:nvPr/>
        </p:nvCxnSpPr>
        <p:spPr>
          <a:xfrm>
            <a:off x="6698870" y="5770880"/>
            <a:ext cx="12462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EFD53F-2AE4-F312-6F03-888465D3DF53}"/>
              </a:ext>
            </a:extLst>
          </p:cNvPr>
          <p:cNvCxnSpPr>
            <a:cxnSpLocks/>
          </p:cNvCxnSpPr>
          <p:nvPr/>
        </p:nvCxnSpPr>
        <p:spPr>
          <a:xfrm flipV="1">
            <a:off x="6991614" y="3327400"/>
            <a:ext cx="883920" cy="4851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4223A1-3519-D306-4072-172FA7966C72}"/>
              </a:ext>
            </a:extLst>
          </p:cNvPr>
          <p:cNvCxnSpPr>
            <a:cxnSpLocks/>
          </p:cNvCxnSpPr>
          <p:nvPr/>
        </p:nvCxnSpPr>
        <p:spPr>
          <a:xfrm flipV="1">
            <a:off x="4836160" y="1406775"/>
            <a:ext cx="3251200" cy="1419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BF7DF199-7B9B-A0D4-7813-35CD777F3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8347" y="35472"/>
            <a:ext cx="3952474" cy="682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54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7E8A5-3668-FA47-B55B-5ACE85F1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BDCEA16-130C-76F5-D66B-1E24AAE18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93916-8604-85C6-9F20-FEED2E9E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49125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Nextflow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Configuration options within the </a:t>
            </a:r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curc_alpine.config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file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A973D815-5BF3-4A2B-F442-80242119F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A082A-09F2-0FAE-7AA6-90BEBA6E38F7}"/>
              </a:ext>
            </a:extLst>
          </p:cNvPr>
          <p:cNvSpPr txBox="1"/>
          <p:nvPr/>
        </p:nvSpPr>
        <p:spPr>
          <a:xfrm>
            <a:off x="630936" y="2660904"/>
            <a:ext cx="5810504" cy="39166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In the executor section: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max queue size is 200 jobs on Alpine at a time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submit rate limit can be adjusted depending on expected wall time for your processes; a good maximum would be 200 / 60 min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Nextflow</a:t>
            </a:r>
            <a:r>
              <a:rPr lang="en-US" sz="2200" dirty="0"/>
              <a:t> uses a container environment to run. The default options should be satisfactory, unless using a customized container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BF6219-FA04-AC7B-52EE-42DD0FC05C58}"/>
              </a:ext>
            </a:extLst>
          </p:cNvPr>
          <p:cNvCxnSpPr>
            <a:cxnSpLocks/>
          </p:cNvCxnSpPr>
          <p:nvPr/>
        </p:nvCxnSpPr>
        <p:spPr>
          <a:xfrm>
            <a:off x="6096000" y="4013200"/>
            <a:ext cx="1397000" cy="606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ABF605-E536-3AE0-FCA0-3AD19CA286EF}"/>
              </a:ext>
            </a:extLst>
          </p:cNvPr>
          <p:cNvCxnSpPr>
            <a:cxnSpLocks/>
          </p:cNvCxnSpPr>
          <p:nvPr/>
        </p:nvCxnSpPr>
        <p:spPr>
          <a:xfrm>
            <a:off x="5608320" y="5466080"/>
            <a:ext cx="1884680" cy="8350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8850958-FB09-9C2E-65BC-DB2AFC91A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0" y="235265"/>
            <a:ext cx="3930904" cy="678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9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7AE3-9D34-7F88-572A-B89BE2A5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pipeline: 3 options to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49658-3EBC-3E49-53E3-79B56812B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two effective ways </a:t>
            </a:r>
            <a:r>
              <a:rPr lang="en-US" dirty="0"/>
              <a:t>to run a </a:t>
            </a:r>
            <a:r>
              <a:rPr lang="en-US" dirty="0" err="1"/>
              <a:t>Nextflow</a:t>
            </a:r>
            <a:r>
              <a:rPr lang="en-US" dirty="0"/>
              <a:t> pipeline on Alpine:</a:t>
            </a:r>
          </a:p>
          <a:p>
            <a:r>
              <a:rPr lang="en-US" dirty="0"/>
              <a:t>Run from peristence1, a service set up specifically for workflow managers like </a:t>
            </a:r>
            <a:r>
              <a:rPr lang="en-US" dirty="0" err="1"/>
              <a:t>Nextflow</a:t>
            </a:r>
            <a:r>
              <a:rPr lang="en-US" dirty="0"/>
              <a:t>. This is the recommended method</a:t>
            </a:r>
          </a:p>
          <a:p>
            <a:r>
              <a:rPr lang="en-US" dirty="0"/>
              <a:t>Run from a </a:t>
            </a:r>
            <a:r>
              <a:rPr lang="en-US" dirty="0" err="1"/>
              <a:t>Slurm</a:t>
            </a:r>
            <a:r>
              <a:rPr lang="en-US" dirty="0"/>
              <a:t> script with the </a:t>
            </a:r>
            <a:r>
              <a:rPr lang="en-US" dirty="0" err="1"/>
              <a:t>sbatch</a:t>
            </a:r>
            <a:r>
              <a:rPr lang="en-US" dirty="0"/>
              <a:t> command, </a:t>
            </a:r>
            <a:r>
              <a:rPr lang="en-US" dirty="0" err="1"/>
              <a:t>lauched</a:t>
            </a:r>
            <a:r>
              <a:rPr lang="en-US" dirty="0"/>
              <a:t> from a login node. Because of the limitations on compute, such as wall time, this method is not recommended for long jobs</a:t>
            </a:r>
          </a:p>
          <a:p>
            <a:pPr lvl="1"/>
            <a:r>
              <a:rPr lang="en-US" dirty="0"/>
              <a:t>Note: if running on </a:t>
            </a:r>
            <a:r>
              <a:rPr lang="en-US" dirty="0" err="1"/>
              <a:t>slurm</a:t>
            </a:r>
            <a:r>
              <a:rPr lang="en-US" dirty="0"/>
              <a:t>, you will need to create a </a:t>
            </a:r>
            <a:r>
              <a:rPr lang="en-US" dirty="0" err="1"/>
              <a:t>slurm</a:t>
            </a:r>
            <a:r>
              <a:rPr lang="en-US" dirty="0"/>
              <a:t> script: </a:t>
            </a:r>
            <a:r>
              <a:rPr lang="en-US" dirty="0">
                <a:hlinkClick r:id="rId2"/>
              </a:rPr>
              <a:t>https://curc.readthedocs.io/en/latest/running-jobs/batch-jobs.html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4916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A91F-C950-5CCF-1B20-DA23BD99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Slide About </a:t>
            </a:r>
            <a:r>
              <a:rPr lang="en-US" dirty="0" err="1"/>
              <a:t>Tmux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E1848-B074-39B3-30B3-E154C60FC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389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to close a </a:t>
            </a:r>
            <a:r>
              <a:rPr lang="en-US" dirty="0" err="1"/>
              <a:t>tmux</a:t>
            </a:r>
            <a:r>
              <a:rPr lang="en-US" dirty="0"/>
              <a:t> session but leave it running:</a:t>
            </a:r>
          </a:p>
          <a:p>
            <a:pPr marL="0" indent="0">
              <a:buNone/>
            </a:pPr>
            <a:r>
              <a:rPr lang="en-US" dirty="0">
                <a:highlight>
                  <a:srgbClr val="C0C0C0"/>
                </a:highlight>
              </a:rPr>
              <a:t>“Ctrl + b”,</a:t>
            </a:r>
            <a:r>
              <a:rPr lang="en-US" dirty="0"/>
              <a:t> followed by </a:t>
            </a:r>
            <a:r>
              <a:rPr lang="en-US" dirty="0">
                <a:highlight>
                  <a:srgbClr val="C0C0C0"/>
                </a:highlight>
              </a:rPr>
              <a:t>“d”. </a:t>
            </a:r>
            <a:r>
              <a:rPr lang="en-US" dirty="0"/>
              <a:t>This “detaches” the session</a:t>
            </a:r>
          </a:p>
          <a:p>
            <a:r>
              <a:rPr lang="en-US" dirty="0"/>
              <a:t>How to check active </a:t>
            </a:r>
            <a:r>
              <a:rPr lang="en-US" dirty="0" err="1"/>
              <a:t>tmux</a:t>
            </a:r>
            <a:r>
              <a:rPr lang="en-US" dirty="0"/>
              <a:t> sessions:</a:t>
            </a:r>
          </a:p>
          <a:p>
            <a:pPr marL="0" indent="0">
              <a:buNone/>
            </a:pPr>
            <a:r>
              <a:rPr lang="en-US" dirty="0">
                <a:highlight>
                  <a:srgbClr val="C0C0C0"/>
                </a:highlight>
              </a:rPr>
              <a:t>“</a:t>
            </a:r>
            <a:r>
              <a:rPr lang="en-US" dirty="0" err="1">
                <a:highlight>
                  <a:srgbClr val="C0C0C0"/>
                </a:highlight>
              </a:rPr>
              <a:t>tmux</a:t>
            </a:r>
            <a:r>
              <a:rPr lang="en-US" dirty="0">
                <a:highlight>
                  <a:srgbClr val="C0C0C0"/>
                </a:highlight>
              </a:rPr>
              <a:t> ls”</a:t>
            </a:r>
          </a:p>
          <a:p>
            <a:r>
              <a:rPr lang="en-US" dirty="0"/>
              <a:t>How to enter a running </a:t>
            </a:r>
            <a:r>
              <a:rPr lang="en-US" dirty="0" err="1"/>
              <a:t>tmux</a:t>
            </a:r>
            <a:r>
              <a:rPr lang="en-US" dirty="0"/>
              <a:t> session:</a:t>
            </a:r>
          </a:p>
          <a:p>
            <a:pPr marL="0" indent="0">
              <a:buNone/>
            </a:pPr>
            <a:r>
              <a:rPr lang="en-US" dirty="0">
                <a:highlight>
                  <a:srgbClr val="C0C0C0"/>
                </a:highlight>
              </a:rPr>
              <a:t>“</a:t>
            </a:r>
            <a:r>
              <a:rPr lang="en-US" dirty="0" err="1">
                <a:highlight>
                  <a:srgbClr val="C0C0C0"/>
                </a:highlight>
              </a:rPr>
              <a:t>tmux</a:t>
            </a:r>
            <a:r>
              <a:rPr lang="en-US" dirty="0">
                <a:highlight>
                  <a:srgbClr val="C0C0C0"/>
                </a:highlight>
              </a:rPr>
              <a:t> attach -t </a:t>
            </a:r>
            <a:r>
              <a:rPr lang="en-US" dirty="0" err="1">
                <a:highlight>
                  <a:srgbClr val="C0C0C0"/>
                </a:highlight>
              </a:rPr>
              <a:t>session_name</a:t>
            </a:r>
            <a:r>
              <a:rPr lang="en-US" dirty="0">
                <a:highlight>
                  <a:srgbClr val="C0C0C0"/>
                </a:highlight>
              </a:rPr>
              <a:t>”</a:t>
            </a:r>
          </a:p>
          <a:p>
            <a:r>
              <a:rPr lang="en-US" dirty="0"/>
              <a:t>How to cancel a </a:t>
            </a:r>
            <a:r>
              <a:rPr lang="en-US" dirty="0" err="1"/>
              <a:t>tmux</a:t>
            </a:r>
            <a:r>
              <a:rPr lang="en-US" dirty="0"/>
              <a:t> session:</a:t>
            </a:r>
          </a:p>
          <a:p>
            <a:pPr marL="0" indent="0">
              <a:buNone/>
            </a:pPr>
            <a:r>
              <a:rPr lang="en-US" dirty="0">
                <a:highlight>
                  <a:srgbClr val="C0C0C0"/>
                </a:highlight>
              </a:rPr>
              <a:t>“</a:t>
            </a:r>
            <a:r>
              <a:rPr lang="en-US" dirty="0" err="1">
                <a:highlight>
                  <a:srgbClr val="C0C0C0"/>
                </a:highlight>
              </a:rPr>
              <a:t>tmux</a:t>
            </a:r>
            <a:r>
              <a:rPr lang="en-US" dirty="0">
                <a:highlight>
                  <a:srgbClr val="C0C0C0"/>
                </a:highlight>
              </a:rPr>
              <a:t> kill-session -t </a:t>
            </a:r>
            <a:r>
              <a:rPr lang="en-US" dirty="0" err="1">
                <a:highlight>
                  <a:srgbClr val="C0C0C0"/>
                </a:highlight>
              </a:rPr>
              <a:t>session_name</a:t>
            </a:r>
            <a:r>
              <a:rPr lang="en-US" dirty="0">
                <a:highlight>
                  <a:srgbClr val="C0C0C0"/>
                </a:highlight>
              </a:rPr>
              <a:t>”</a:t>
            </a:r>
          </a:p>
          <a:p>
            <a:r>
              <a:rPr lang="en-US" dirty="0"/>
              <a:t>How to kill a session you are inside:</a:t>
            </a:r>
          </a:p>
          <a:p>
            <a:pPr marL="0" indent="0">
              <a:buNone/>
            </a:pPr>
            <a:r>
              <a:rPr lang="en-US" dirty="0">
                <a:highlight>
                  <a:srgbClr val="C0C0C0"/>
                </a:highlight>
              </a:rPr>
              <a:t>“</a:t>
            </a:r>
            <a:r>
              <a:rPr lang="en-US" dirty="0" err="1">
                <a:highlight>
                  <a:srgbClr val="C0C0C0"/>
                </a:highlight>
              </a:rPr>
              <a:t>Ctrol</a:t>
            </a:r>
            <a:r>
              <a:rPr lang="en-US" dirty="0">
                <a:highlight>
                  <a:srgbClr val="C0C0C0"/>
                </a:highlight>
              </a:rPr>
              <a:t> + b” </a:t>
            </a:r>
            <a:r>
              <a:rPr lang="en-US" dirty="0"/>
              <a:t>followed by </a:t>
            </a:r>
            <a:r>
              <a:rPr lang="en-US" dirty="0">
                <a:highlight>
                  <a:srgbClr val="C0C0C0"/>
                </a:highlight>
              </a:rPr>
              <a:t>“kill-session”</a:t>
            </a:r>
          </a:p>
        </p:txBody>
      </p:sp>
    </p:spTree>
    <p:extLst>
      <p:ext uri="{BB962C8B-B14F-4D97-AF65-F5344CB8AC3E}">
        <p14:creationId xmlns:p14="http://schemas.microsoft.com/office/powerpoint/2010/main" val="3247531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A867-7B01-CDE9-6986-6C860CFF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: Persistence1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E325F-6C9D-1A31-A5BF-9811410BB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080"/>
            <a:ext cx="10515600" cy="45008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First, you will need to get onto the Persistence1 hardware. If you do not have access, you can request access by emailing our team at </a:t>
            </a:r>
            <a:r>
              <a:rPr lang="en-US" dirty="0">
                <a:hlinkClick r:id="rId2"/>
              </a:rPr>
              <a:t>hpcsupport@cuanschutz.edu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following commands can be run from a </a:t>
            </a:r>
            <a:r>
              <a:rPr lang="en-US" b="1" u="sng" dirty="0"/>
              <a:t>BASH script </a:t>
            </a:r>
            <a:r>
              <a:rPr lang="en-US" dirty="0"/>
              <a:t>(ex.: </a:t>
            </a:r>
            <a:r>
              <a:rPr lang="en-US" dirty="0">
                <a:hlinkClick r:id="rId3"/>
              </a:rPr>
              <a:t>https://github.com/kf-cuanschutz/CU-Anschutz-HPC-documentation/blob/main/Workshops/bash_nextflow_examplescript.sh</a:t>
            </a:r>
            <a:r>
              <a:rPr lang="en-US" dirty="0"/>
              <a:t>)</a:t>
            </a:r>
            <a:br>
              <a:rPr lang="en-US" dirty="0"/>
            </a:br>
            <a:r>
              <a:rPr lang="en-US" u="sng" dirty="0"/>
              <a:t>OR from a </a:t>
            </a:r>
            <a:r>
              <a:rPr lang="en-US" b="1" u="sng" dirty="0"/>
              <a:t>terminal window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300" dirty="0"/>
              <a:t>Notes: </a:t>
            </a:r>
            <a:r>
              <a:rPr lang="en-US" sz="2300" dirty="0" err="1"/>
              <a:t>tmux</a:t>
            </a:r>
            <a:r>
              <a:rPr lang="en-US" sz="2300" dirty="0"/>
              <a:t> is for longer, detached sessions when you run your actual workflow. </a:t>
            </a:r>
            <a:r>
              <a:rPr lang="en-US" sz="2300" dirty="0" err="1"/>
              <a:t>Tmux</a:t>
            </a:r>
            <a:r>
              <a:rPr lang="en-US" sz="2300" dirty="0"/>
              <a:t> sessions can run for weeks. Containers (</a:t>
            </a:r>
            <a:r>
              <a:rPr lang="en-US" sz="2300" dirty="0" err="1"/>
              <a:t>apptainer</a:t>
            </a:r>
            <a:r>
              <a:rPr lang="en-US" sz="2300" dirty="0"/>
              <a:t>, singularity) work on persistence1 with default version 1.4.3-1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55B45-8E53-A0EE-8818-C84F3FD6D5F7}"/>
              </a:ext>
            </a:extLst>
          </p:cNvPr>
          <p:cNvSpPr txBox="1"/>
          <p:nvPr/>
        </p:nvSpPr>
        <p:spPr>
          <a:xfrm>
            <a:off x="1407160" y="4277201"/>
            <a:ext cx="915416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module load </a:t>
            </a:r>
            <a:r>
              <a:rPr lang="en-US" dirty="0" err="1"/>
              <a:t>nextflow</a:t>
            </a:r>
            <a:endParaRPr lang="en-US" dirty="0"/>
          </a:p>
          <a:p>
            <a:r>
              <a:rPr lang="en-US" dirty="0"/>
              <a:t>cd /projects/$USER/software/</a:t>
            </a:r>
            <a:r>
              <a:rPr lang="en-US" dirty="0" err="1"/>
              <a:t>nextflow_config</a:t>
            </a:r>
            <a:br>
              <a:rPr lang="en-US" dirty="0"/>
            </a:br>
            <a:r>
              <a:rPr lang="en-US" dirty="0"/>
              <a:t># This is the recommended location to store your config 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91721-B0B0-E316-6C7C-7AF23B064533}"/>
              </a:ext>
            </a:extLst>
          </p:cNvPr>
          <p:cNvSpPr txBox="1"/>
          <p:nvPr/>
        </p:nvSpPr>
        <p:spPr>
          <a:xfrm>
            <a:off x="1407160" y="1938952"/>
            <a:ext cx="915416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# OPTIONAL: </a:t>
            </a:r>
            <a:r>
              <a:rPr lang="en-US" dirty="0" err="1"/>
              <a:t>tmux</a:t>
            </a:r>
            <a:r>
              <a:rPr lang="en-US" dirty="0"/>
              <a:t>; for long running workflow sessions you can come back to:</a:t>
            </a:r>
            <a:br>
              <a:rPr lang="en-US" dirty="0"/>
            </a:br>
            <a:r>
              <a:rPr lang="en-US" dirty="0" err="1"/>
              <a:t>tmux</a:t>
            </a:r>
            <a:r>
              <a:rPr lang="en-US" dirty="0"/>
              <a:t> new –s </a:t>
            </a:r>
            <a:r>
              <a:rPr lang="en-US" dirty="0" err="1"/>
              <a:t>my_session</a:t>
            </a:r>
            <a:r>
              <a:rPr lang="en-US" dirty="0"/>
              <a:t>   # -s flag names your session to come back to</a:t>
            </a:r>
          </a:p>
          <a:p>
            <a:endParaRPr lang="en-US" dirty="0"/>
          </a:p>
          <a:p>
            <a:r>
              <a:rPr lang="en-US" dirty="0"/>
              <a:t>ssh persistence1</a:t>
            </a:r>
          </a:p>
        </p:txBody>
      </p:sp>
    </p:spTree>
    <p:extLst>
      <p:ext uri="{BB962C8B-B14F-4D97-AF65-F5344CB8AC3E}">
        <p14:creationId xmlns:p14="http://schemas.microsoft.com/office/powerpoint/2010/main" val="2881104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B590C0-EDFE-C55B-290D-4963F24C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: Persistence1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C239A5-8282-9516-2590-B548ADBE4E1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84383" y="1784075"/>
            <a:ext cx="10423234" cy="25838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#There are export commands you can include in your bash script or simply embed in your config file. For example:</a:t>
            </a:r>
            <a:br>
              <a:rPr lang="en-US" sz="1800" dirty="0"/>
            </a:br>
            <a:r>
              <a:rPr lang="en-US" sz="1800" dirty="0"/>
              <a:t>export $</a:t>
            </a:r>
            <a:r>
              <a:rPr lang="en-US" sz="1800" dirty="0" err="1"/>
              <a:t>pipelinepath</a:t>
            </a:r>
            <a:r>
              <a:rPr lang="en-US" sz="1800" dirty="0"/>
              <a:t> = /path/to/your/pipeline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export $</a:t>
            </a:r>
            <a:r>
              <a:rPr lang="en-US" sz="1800" dirty="0" err="1"/>
              <a:t>samplefile</a:t>
            </a:r>
            <a:r>
              <a:rPr lang="en-US" sz="1800" dirty="0"/>
              <a:t> = /path/to/input/sample/file</a:t>
            </a:r>
          </a:p>
          <a:p>
            <a:pPr marL="0" indent="0">
              <a:buNone/>
            </a:pPr>
            <a:r>
              <a:rPr lang="en-US" sz="1800" dirty="0"/>
              <a:t># Once you have finished exporting any paths and commands, you are ready for your </a:t>
            </a:r>
            <a:r>
              <a:rPr lang="en-US" sz="1800" dirty="0" err="1"/>
              <a:t>nextflow</a:t>
            </a:r>
            <a:r>
              <a:rPr lang="en-US" sz="1800" dirty="0"/>
              <a:t> command:</a:t>
            </a:r>
          </a:p>
          <a:p>
            <a:pPr marL="0" indent="0">
              <a:buNone/>
            </a:pPr>
            <a:r>
              <a:rPr lang="en-US" sz="1800" dirty="0" err="1"/>
              <a:t>nextflow</a:t>
            </a:r>
            <a:r>
              <a:rPr lang="en-US" sz="1800" dirty="0"/>
              <a:t> run </a:t>
            </a:r>
            <a:r>
              <a:rPr lang="en-US" sz="1800" dirty="0" err="1"/>
              <a:t>bash_run_sarek.sh</a:t>
            </a:r>
            <a:r>
              <a:rPr lang="en-US" sz="1800" dirty="0"/>
              <a:t> -</a:t>
            </a:r>
            <a:r>
              <a:rPr lang="en-US" sz="1800" dirty="0" err="1"/>
              <a:t>ansi</a:t>
            </a:r>
            <a:r>
              <a:rPr lang="en-US" sz="1800" dirty="0"/>
              <a:t>-log false --input "$</a:t>
            </a:r>
            <a:r>
              <a:rPr lang="en-US" sz="1800" dirty="0" err="1"/>
              <a:t>samplefile</a:t>
            </a:r>
            <a:r>
              <a:rPr lang="en-US" sz="1800" dirty="0"/>
              <a:t>"--</a:t>
            </a:r>
            <a:r>
              <a:rPr lang="en-US" sz="1800" dirty="0" err="1"/>
              <a:t>outdir</a:t>
            </a:r>
            <a:r>
              <a:rPr lang="en-US" sz="1800" dirty="0"/>
              <a:t> /projects/$USER/software/</a:t>
            </a:r>
            <a:r>
              <a:rPr lang="en-US" sz="1800" dirty="0" err="1"/>
              <a:t>nextflow_config</a:t>
            </a:r>
            <a:r>
              <a:rPr lang="en-US" sz="1800" dirty="0"/>
              <a:t> --tools mutect2,strelka,tiddit,freebayes,vep,snpeff -resume -c </a:t>
            </a:r>
            <a:r>
              <a:rPr lang="en-US" sz="1800" dirty="0" err="1"/>
              <a:t>curc_alpine.config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B68BB-A385-3D8F-D8D6-610BD5ACD81F}"/>
              </a:ext>
            </a:extLst>
          </p:cNvPr>
          <p:cNvSpPr txBox="1"/>
          <p:nvPr/>
        </p:nvSpPr>
        <p:spPr>
          <a:xfrm>
            <a:off x="512154" y="4561851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your </a:t>
            </a:r>
            <a:r>
              <a:rPr lang="en-US" dirty="0" err="1"/>
              <a:t>nextflow</a:t>
            </a:r>
            <a:r>
              <a:rPr lang="en-US" dirty="0"/>
              <a:t> command will BE DIFFERENT from the example above.</a:t>
            </a:r>
          </a:p>
          <a:p>
            <a:endParaRPr lang="en-US" dirty="0"/>
          </a:p>
          <a:p>
            <a:r>
              <a:rPr lang="en-US" dirty="0"/>
              <a:t>You will need to configure your own paths, container paths, tools, inputs, outputs, etc. This can be done either within the </a:t>
            </a:r>
            <a:r>
              <a:rPr lang="en-US" dirty="0" err="1"/>
              <a:t>nextflow</a:t>
            </a:r>
            <a:r>
              <a:rPr lang="en-US" dirty="0"/>
              <a:t> command, or in the config file</a:t>
            </a:r>
          </a:p>
          <a:p>
            <a:endParaRPr lang="en-US" dirty="0"/>
          </a:p>
          <a:p>
            <a:r>
              <a:rPr lang="en-US" dirty="0"/>
              <a:t>The last flag passes the config file, “</a:t>
            </a:r>
            <a:r>
              <a:rPr lang="en-US" dirty="0" err="1"/>
              <a:t>curc_alpine.config</a:t>
            </a:r>
            <a:r>
              <a:rPr lang="en-US" dirty="0"/>
              <a:t>”, which we demo-ed in previous slides. You will also need to customize your config file to fit your resource needs</a:t>
            </a:r>
          </a:p>
        </p:txBody>
      </p:sp>
    </p:spTree>
    <p:extLst>
      <p:ext uri="{BB962C8B-B14F-4D97-AF65-F5344CB8AC3E}">
        <p14:creationId xmlns:p14="http://schemas.microsoft.com/office/powerpoint/2010/main" val="3500527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97EF6-CF80-8B6C-BA43-8FEBFC6B4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 err="1"/>
              <a:t>Nextflow</a:t>
            </a:r>
            <a:r>
              <a:rPr lang="en-US" sz="5400" dirty="0"/>
              <a:t>: persistence1 example script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71C9-4571-1DC3-CB72-4EBF082F8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fontScale="92500"/>
          </a:bodyPr>
          <a:lstStyle/>
          <a:p>
            <a:endParaRPr lang="en-US" sz="2200" dirty="0"/>
          </a:p>
          <a:p>
            <a:r>
              <a:rPr lang="en-US" sz="2200" dirty="0"/>
              <a:t>This example script can be found here: </a:t>
            </a:r>
            <a:r>
              <a:rPr lang="en-US" sz="2200" dirty="0">
                <a:hlinkClick r:id="rId2"/>
              </a:rPr>
              <a:t>https://github.com/kf-cuanschutz/CU-Anschutz-HPC-documentation/blob/main/Workshops/bash_nextflow_examplescript.sh</a:t>
            </a:r>
            <a:endParaRPr lang="en-US" sz="2200" dirty="0"/>
          </a:p>
          <a:p>
            <a:r>
              <a:rPr lang="en-US" sz="2200" dirty="0"/>
              <a:t>When on Persistence1, this script can be run after adjustments are made. To run this outside of persistence1 from a login node, additional #SBATCH commands are required to run: </a:t>
            </a:r>
            <a:r>
              <a:rPr lang="en-US" sz="2200" dirty="0">
                <a:hlinkClick r:id="rId3"/>
              </a:rPr>
              <a:t>https://curc.readthedocs.io/en/latest/running-jobs/batch-jobs.html</a:t>
            </a:r>
            <a:r>
              <a:rPr lang="en-US" sz="2200" dirty="0"/>
              <a:t> </a:t>
            </a:r>
          </a:p>
          <a:p>
            <a:r>
              <a:rPr lang="en-US" sz="2200" dirty="0"/>
              <a:t>You will need to adjust the “</a:t>
            </a:r>
            <a:r>
              <a:rPr lang="en-US" sz="2200" dirty="0" err="1"/>
              <a:t>nextflow</a:t>
            </a:r>
            <a:r>
              <a:rPr lang="en-US" sz="2200" dirty="0"/>
              <a:t> run” command extensively to match your pipeline’s specific needs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45EE99-42DF-19CC-3E47-3C3A32879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399" y="2419548"/>
            <a:ext cx="5072553" cy="369185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1BC799-2348-0D06-3C99-84900DC060EC}"/>
              </a:ext>
            </a:extLst>
          </p:cNvPr>
          <p:cNvCxnSpPr>
            <a:cxnSpLocks/>
          </p:cNvCxnSpPr>
          <p:nvPr/>
        </p:nvCxnSpPr>
        <p:spPr>
          <a:xfrm flipV="1">
            <a:off x="6573520" y="5537200"/>
            <a:ext cx="1107440" cy="193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166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3314-470B-0B8F-1AB3-416D6667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Nf</a:t>
            </a:r>
            <a:r>
              <a:rPr lang="en-US" dirty="0"/>
              <a:t>-core set up on persistence1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8F1A9-9A74-426D-CFD9-3D66C1FDE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Tmux</a:t>
            </a:r>
            <a:r>
              <a:rPr lang="en-US" dirty="0"/>
              <a:t> is optional to start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br>
              <a:rPr lang="en-US" dirty="0"/>
            </a:br>
            <a:r>
              <a:rPr lang="en-US" dirty="0"/>
              <a:t>The final command launches the </a:t>
            </a:r>
            <a:r>
              <a:rPr lang="en-US" dirty="0" err="1"/>
              <a:t>nf</a:t>
            </a:r>
            <a:r>
              <a:rPr lang="en-US" dirty="0"/>
              <a:t>-core interface, where you can install modules, pipelines, or run test datasets.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Note that the </a:t>
            </a:r>
            <a:r>
              <a:rPr lang="en-US" dirty="0" err="1"/>
              <a:t>nf</a:t>
            </a:r>
            <a:r>
              <a:rPr lang="en-US" dirty="0"/>
              <a:t>-core install also installs </a:t>
            </a:r>
            <a:r>
              <a:rPr lang="en-US" dirty="0" err="1"/>
              <a:t>nextflow</a:t>
            </a:r>
            <a:r>
              <a:rPr lang="en-US" dirty="0"/>
              <a:t>, so to run a </a:t>
            </a:r>
            <a:r>
              <a:rPr lang="en-US" dirty="0" err="1"/>
              <a:t>nf</a:t>
            </a:r>
            <a:r>
              <a:rPr lang="en-US" dirty="0"/>
              <a:t>-core pipeline, a command such as </a:t>
            </a:r>
            <a:r>
              <a:rPr lang="en-US" dirty="0">
                <a:highlight>
                  <a:srgbClr val="C0C0C0"/>
                </a:highlight>
              </a:rPr>
              <a:t>“</a:t>
            </a:r>
            <a:r>
              <a:rPr lang="en-US" dirty="0" err="1">
                <a:highlight>
                  <a:srgbClr val="C0C0C0"/>
                </a:highlight>
              </a:rPr>
              <a:t>nextflow</a:t>
            </a:r>
            <a:r>
              <a:rPr lang="en-US" dirty="0">
                <a:highlight>
                  <a:srgbClr val="C0C0C0"/>
                </a:highlight>
              </a:rPr>
              <a:t> run </a:t>
            </a:r>
            <a:r>
              <a:rPr lang="en-US" dirty="0" err="1">
                <a:highlight>
                  <a:srgbClr val="C0C0C0"/>
                </a:highlight>
              </a:rPr>
              <a:t>nf</a:t>
            </a:r>
            <a:r>
              <a:rPr lang="en-US" dirty="0">
                <a:highlight>
                  <a:srgbClr val="C0C0C0"/>
                </a:highlight>
              </a:rPr>
              <a:t>-core \ &lt;</a:t>
            </a:r>
            <a:r>
              <a:rPr lang="en-US" dirty="0" err="1">
                <a:highlight>
                  <a:srgbClr val="C0C0C0"/>
                </a:highlight>
              </a:rPr>
              <a:t>nextflow</a:t>
            </a:r>
            <a:r>
              <a:rPr lang="en-US" dirty="0">
                <a:highlight>
                  <a:srgbClr val="C0C0C0"/>
                </a:highlight>
              </a:rPr>
              <a:t> pipeline flags here&gt;”</a:t>
            </a:r>
            <a:r>
              <a:rPr lang="en-US" dirty="0"/>
              <a:t> will work.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Once </a:t>
            </a:r>
            <a:r>
              <a:rPr lang="en-US" dirty="0" err="1"/>
              <a:t>nf</a:t>
            </a:r>
            <a:r>
              <a:rPr lang="en-US" dirty="0"/>
              <a:t>-core is installed, you can also launch a script within persistence1 (see slides12-14)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ADB9199-DF93-1679-FD55-54D49BCF8909}"/>
              </a:ext>
            </a:extLst>
          </p:cNvPr>
          <p:cNvSpPr txBox="1">
            <a:spLocks/>
          </p:cNvSpPr>
          <p:nvPr/>
        </p:nvSpPr>
        <p:spPr>
          <a:xfrm>
            <a:off x="930566" y="2293828"/>
            <a:ext cx="10423234" cy="18825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ssh persistence1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module load </a:t>
            </a:r>
            <a:r>
              <a:rPr lang="en-US" sz="1800" dirty="0" err="1"/>
              <a:t>miniforge</a:t>
            </a:r>
            <a:br>
              <a:rPr lang="en-US" sz="1800" dirty="0"/>
            </a:br>
            <a:r>
              <a:rPr lang="en-US" sz="1800" dirty="0" err="1"/>
              <a:t>conda</a:t>
            </a:r>
            <a:r>
              <a:rPr lang="en-US" sz="1800" dirty="0"/>
              <a:t> create --name </a:t>
            </a:r>
            <a:r>
              <a:rPr lang="en-US" sz="1800" dirty="0" err="1"/>
              <a:t>nf</a:t>
            </a:r>
            <a:r>
              <a:rPr lang="en-US" sz="1800" dirty="0"/>
              <a:t>-core-env</a:t>
            </a:r>
            <a:br>
              <a:rPr lang="en-US" sz="1800" dirty="0"/>
            </a:br>
            <a:r>
              <a:rPr lang="en-US" sz="1800" dirty="0" err="1"/>
              <a:t>conda</a:t>
            </a:r>
            <a:r>
              <a:rPr lang="en-US" sz="1800" dirty="0"/>
              <a:t> activate </a:t>
            </a:r>
            <a:r>
              <a:rPr lang="en-US" sz="1800" dirty="0" err="1"/>
              <a:t>nf-core_env</a:t>
            </a:r>
            <a:br>
              <a:rPr lang="en-US" sz="1800" dirty="0"/>
            </a:br>
            <a:r>
              <a:rPr lang="en-US" sz="1800" dirty="0" err="1"/>
              <a:t>conda</a:t>
            </a:r>
            <a:r>
              <a:rPr lang="en-US" sz="1800" dirty="0"/>
              <a:t> install </a:t>
            </a:r>
            <a:r>
              <a:rPr lang="en-US" sz="1800" dirty="0" err="1"/>
              <a:t>bioconda</a:t>
            </a:r>
            <a:r>
              <a:rPr lang="en-US" sz="1800" dirty="0"/>
              <a:t>::</a:t>
            </a:r>
            <a:r>
              <a:rPr lang="en-US" sz="1800" dirty="0" err="1"/>
              <a:t>nf</a:t>
            </a:r>
            <a:r>
              <a:rPr lang="en-US" sz="1800" dirty="0"/>
              <a:t>-core</a:t>
            </a:r>
            <a:br>
              <a:rPr lang="en-US" sz="1800" dirty="0"/>
            </a:br>
            <a:r>
              <a:rPr lang="en-US" sz="1800" dirty="0" err="1"/>
              <a:t>nf</a:t>
            </a:r>
            <a:r>
              <a:rPr lang="en-US" sz="1800" dirty="0"/>
              <a:t>-core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E773D6-2B83-1271-1B3D-751A844EE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373" y="1432378"/>
            <a:ext cx="3027384" cy="86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03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71CB-2D69-68B1-E820-3C7884D5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Snakemake</a:t>
            </a:r>
            <a:r>
              <a:rPr lang="en-US" dirty="0"/>
              <a:t> installation on persistence1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755997E-3AC9-9CDB-314E-5E95D6BFABD1}"/>
              </a:ext>
            </a:extLst>
          </p:cNvPr>
          <p:cNvSpPr txBox="1">
            <a:spLocks/>
          </p:cNvSpPr>
          <p:nvPr/>
        </p:nvSpPr>
        <p:spPr>
          <a:xfrm>
            <a:off x="4038600" y="2540540"/>
            <a:ext cx="6431280" cy="26725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ssh persistence1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module load </a:t>
            </a:r>
            <a:r>
              <a:rPr lang="en-US" sz="1800" dirty="0" err="1"/>
              <a:t>miniforge</a:t>
            </a:r>
            <a:br>
              <a:rPr lang="en-US" sz="1800" dirty="0"/>
            </a:br>
            <a:r>
              <a:rPr lang="en-US" sz="1800" dirty="0" err="1"/>
              <a:t>conda</a:t>
            </a:r>
            <a:r>
              <a:rPr lang="en-US" sz="1800" dirty="0"/>
              <a:t> create -n </a:t>
            </a:r>
            <a:r>
              <a:rPr lang="en-US" sz="1800" dirty="0" err="1"/>
              <a:t>snakemake_env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conda</a:t>
            </a:r>
            <a:r>
              <a:rPr lang="en-US" sz="1800" dirty="0"/>
              <a:t> activate </a:t>
            </a:r>
            <a:r>
              <a:rPr lang="en-US" sz="1800" dirty="0" err="1"/>
              <a:t>snakemake_env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conda</a:t>
            </a:r>
            <a:r>
              <a:rPr lang="en-US" sz="1800" dirty="0"/>
              <a:t> install -c </a:t>
            </a:r>
            <a:r>
              <a:rPr lang="en-US" sz="1800" dirty="0" err="1"/>
              <a:t>bioconda</a:t>
            </a:r>
            <a:r>
              <a:rPr lang="en-US" sz="1800" dirty="0"/>
              <a:t> </a:t>
            </a:r>
            <a:r>
              <a:rPr lang="en-US" sz="1800" dirty="0" err="1"/>
              <a:t>snakemake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#Test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snakemake</a:t>
            </a:r>
            <a:r>
              <a:rPr lang="en-US" sz="1800" dirty="0"/>
              <a:t> --help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0AD03-D121-CA2B-7D7B-1574BA860A85}"/>
              </a:ext>
            </a:extLst>
          </p:cNvPr>
          <p:cNvSpPr txBox="1"/>
          <p:nvPr/>
        </p:nvSpPr>
        <p:spPr>
          <a:xfrm>
            <a:off x="2905760" y="1981200"/>
            <a:ext cx="6428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r>
              <a:rPr lang="en-US" dirty="0" err="1"/>
              <a:t>Tmux</a:t>
            </a:r>
            <a:r>
              <a:rPr lang="en-US" dirty="0"/>
              <a:t> session is always a possibility before “ssh persistence1”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9327F6-23C0-64ED-B145-CD3841895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96" y="2454911"/>
            <a:ext cx="2843784" cy="284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12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5C50-7304-161D-ACEA-EDF9E42F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Snakemake</a:t>
            </a:r>
            <a:r>
              <a:rPr lang="en-US" dirty="0"/>
              <a:t> basic example on persistence1: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A94069B-E60E-B56A-ED9F-A7524DF34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600" y="1881487"/>
            <a:ext cx="6858000" cy="3669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C0AC91-6FB4-0930-13B3-D4F29AD61139}"/>
              </a:ext>
            </a:extLst>
          </p:cNvPr>
          <p:cNvSpPr txBox="1"/>
          <p:nvPr/>
        </p:nvSpPr>
        <p:spPr>
          <a:xfrm>
            <a:off x="152400" y="1502688"/>
            <a:ext cx="5029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Snakemake</a:t>
            </a:r>
            <a:r>
              <a:rPr lang="en-US" dirty="0"/>
              <a:t> command run with 1 core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Input file is “</a:t>
            </a:r>
            <a:r>
              <a:rPr lang="en-US" dirty="0" err="1"/>
              <a:t>snakefile</a:t>
            </a:r>
            <a:r>
              <a:rPr lang="en-US" dirty="0"/>
              <a:t>”</a:t>
            </a:r>
          </a:p>
          <a:p>
            <a:br>
              <a:rPr lang="en-US" dirty="0"/>
            </a:br>
            <a:r>
              <a:rPr lang="en-US" dirty="0"/>
              <a:t>Output file “</a:t>
            </a:r>
            <a:r>
              <a:rPr lang="en-US" dirty="0" err="1"/>
              <a:t>hello_world</a:t>
            </a:r>
            <a:r>
              <a:rPr lang="en-US" dirty="0"/>
              <a:t>”</a:t>
            </a:r>
          </a:p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following can also be added to a bash script, requesting compute resources, and run in a </a:t>
            </a:r>
            <a:r>
              <a:rPr lang="en-US" dirty="0" err="1"/>
              <a:t>tmux</a:t>
            </a:r>
            <a:r>
              <a:rPr lang="en-US" dirty="0"/>
              <a:t> window: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will ultimately run the </a:t>
            </a:r>
            <a:r>
              <a:rPr lang="en-US" dirty="0" err="1"/>
              <a:t>snakemake</a:t>
            </a:r>
            <a:r>
              <a:rPr lang="en-US" dirty="0"/>
              <a:t> workflow out of your current working directory with 4 cores on persistence1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7E8579B-F443-B6CB-C667-58A1380DBE24}"/>
              </a:ext>
            </a:extLst>
          </p:cNvPr>
          <p:cNvSpPr txBox="1">
            <a:spLocks/>
          </p:cNvSpPr>
          <p:nvPr/>
        </p:nvSpPr>
        <p:spPr>
          <a:xfrm>
            <a:off x="416434" y="4558387"/>
            <a:ext cx="4251034" cy="11798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module load </a:t>
            </a:r>
            <a:r>
              <a:rPr lang="en-US" sz="1800" dirty="0" err="1"/>
              <a:t>miniforge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conda</a:t>
            </a:r>
            <a:r>
              <a:rPr lang="en-US" sz="1800" dirty="0"/>
              <a:t> activate </a:t>
            </a:r>
            <a:r>
              <a:rPr lang="en-US" sz="1800" dirty="0" err="1"/>
              <a:t>snakemake_env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snakemake</a:t>
            </a:r>
            <a:r>
              <a:rPr lang="en-US" sz="1800" dirty="0"/>
              <a:t> --cores 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3F089F-E9EF-C80C-7C4F-E8749E7F5713}"/>
              </a:ext>
            </a:extLst>
          </p:cNvPr>
          <p:cNvCxnSpPr>
            <a:cxnSpLocks/>
          </p:cNvCxnSpPr>
          <p:nvPr/>
        </p:nvCxnSpPr>
        <p:spPr>
          <a:xfrm>
            <a:off x="2722880" y="2814320"/>
            <a:ext cx="2458720" cy="23339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B79B8F-D0BC-1063-6687-3DB76D7C34C7}"/>
              </a:ext>
            </a:extLst>
          </p:cNvPr>
          <p:cNvCxnSpPr>
            <a:cxnSpLocks/>
          </p:cNvCxnSpPr>
          <p:nvPr/>
        </p:nvCxnSpPr>
        <p:spPr>
          <a:xfrm>
            <a:off x="2541951" y="2232646"/>
            <a:ext cx="2763583" cy="14578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E784CD-D034-3EE6-3812-33A762017D2E}"/>
              </a:ext>
            </a:extLst>
          </p:cNvPr>
          <p:cNvCxnSpPr>
            <a:cxnSpLocks/>
          </p:cNvCxnSpPr>
          <p:nvPr/>
        </p:nvCxnSpPr>
        <p:spPr>
          <a:xfrm>
            <a:off x="4074160" y="1709708"/>
            <a:ext cx="4074160" cy="116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375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FCA0D-3172-08FD-1AE7-70F297C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554" y="52831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Troubleshooting on persistence1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E06A-3008-B5BA-31FC-0688C668C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1600517"/>
            <a:ext cx="10323446" cy="3917773"/>
          </a:xfrm>
        </p:spPr>
        <p:txBody>
          <a:bodyPr>
            <a:normAutofit/>
          </a:bodyPr>
          <a:lstStyle/>
          <a:p>
            <a:r>
              <a:rPr lang="en-US" sz="1800" dirty="0"/>
              <a:t>Persistence1 acts in some ways as its own login node. When a pipeline is launched from persistence1, it utilizes </a:t>
            </a:r>
            <a:r>
              <a:rPr lang="en-US" sz="1800" dirty="0" err="1"/>
              <a:t>slurm</a:t>
            </a:r>
            <a:r>
              <a:rPr lang="en-US" sz="1800" dirty="0"/>
              <a:t> resources and generates </a:t>
            </a:r>
            <a:r>
              <a:rPr lang="en-US" sz="1800" dirty="0" err="1"/>
              <a:t>JobIDs</a:t>
            </a:r>
            <a:r>
              <a:rPr lang="en-US" sz="1800" dirty="0"/>
              <a:t> from each individual process.</a:t>
            </a:r>
          </a:p>
          <a:p>
            <a:r>
              <a:rPr lang="en-US" sz="1800" dirty="0"/>
              <a:t>You can then troubleshoot the jobs in a traditional manner with commands such as “</a:t>
            </a:r>
            <a:r>
              <a:rPr lang="en-US" sz="1800" dirty="0" err="1"/>
              <a:t>seff</a:t>
            </a:r>
            <a:r>
              <a:rPr lang="en-US" sz="1800" dirty="0"/>
              <a:t>”, “</a:t>
            </a:r>
            <a:r>
              <a:rPr lang="en-US" sz="1800" dirty="0" err="1"/>
              <a:t>squeue</a:t>
            </a:r>
            <a:r>
              <a:rPr lang="en-US" sz="1800" dirty="0"/>
              <a:t>”, “</a:t>
            </a:r>
            <a:r>
              <a:rPr lang="en-US" sz="1800" dirty="0" err="1"/>
              <a:t>sacct</a:t>
            </a:r>
            <a:r>
              <a:rPr lang="en-US" sz="1800" dirty="0"/>
              <a:t>”. You can read more about troubleshooting jobs on Alpine here: </a:t>
            </a:r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https://github.com/kf-cuanschutz/CU-Anschutz-HPC-documentation/blob/main/Workshops/Alpine_best_practices_workshop_03262025.pdf</a:t>
            </a:r>
            <a:r>
              <a:rPr lang="en-US" sz="1600" dirty="0"/>
              <a:t>.</a:t>
            </a:r>
          </a:p>
          <a:p>
            <a:r>
              <a:rPr lang="en-US" sz="1800" dirty="0"/>
              <a:t>Another way to troubleshoot is with the output directory. In the </a:t>
            </a:r>
            <a:r>
              <a:rPr lang="en-US" sz="1800" dirty="0" err="1"/>
              <a:t>nextflow</a:t>
            </a:r>
            <a:r>
              <a:rPr lang="en-US" sz="1800" dirty="0"/>
              <a:t> example, the output directory was set as “/projects/$USER/software/</a:t>
            </a:r>
            <a:r>
              <a:rPr lang="en-US" sz="1800" dirty="0" err="1"/>
              <a:t>nextflow_config</a:t>
            </a:r>
            <a:r>
              <a:rPr lang="en-US" sz="1800" dirty="0"/>
              <a:t>”</a:t>
            </a:r>
          </a:p>
          <a:p>
            <a:pPr lvl="1"/>
            <a:r>
              <a:rPr lang="en-US" sz="1400" dirty="0"/>
              <a:t>When a </a:t>
            </a:r>
            <a:r>
              <a:rPr lang="en-US" sz="1400" dirty="0" err="1"/>
              <a:t>nextflow</a:t>
            </a:r>
            <a:r>
              <a:rPr lang="en-US" sz="1400" dirty="0"/>
              <a:t> pipeline fails, a “.</a:t>
            </a:r>
            <a:r>
              <a:rPr lang="en-US" sz="1400" dirty="0" err="1"/>
              <a:t>nextflow.log</a:t>
            </a:r>
            <a:r>
              <a:rPr lang="en-US" sz="1400" dirty="0"/>
              <a:t>.[#]” file is generated in the output directory. You can see these hidden files with the command “ls –la”: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F27AD8-42F4-E2D6-C3B7-01337F108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4" y="4595139"/>
            <a:ext cx="6247993" cy="2061837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100AC3-E410-375D-8B43-ABDFB2972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877" y="4595139"/>
            <a:ext cx="5671483" cy="206183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E3876C-99E1-9182-F155-81BCA83168FA}"/>
              </a:ext>
            </a:extLst>
          </p:cNvPr>
          <p:cNvCxnSpPr/>
          <p:nvPr/>
        </p:nvCxnSpPr>
        <p:spPr>
          <a:xfrm>
            <a:off x="1137034" y="5963920"/>
            <a:ext cx="176872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ame 13">
            <a:extLst>
              <a:ext uri="{FF2B5EF4-FFF2-40B4-BE49-F238E27FC236}">
                <a16:creationId xmlns:a16="http://schemas.microsoft.com/office/drawing/2014/main" id="{AC533F9A-4ECE-60A5-A20E-394A74506B3E}"/>
              </a:ext>
            </a:extLst>
          </p:cNvPr>
          <p:cNvSpPr/>
          <p:nvPr/>
        </p:nvSpPr>
        <p:spPr>
          <a:xfrm>
            <a:off x="10505440" y="5486399"/>
            <a:ext cx="1124177" cy="914401"/>
          </a:xfrm>
          <a:prstGeom prst="frame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100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3936F-D598-2219-2FCA-C82ABB4C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11" name="Graphic 10" descr="Question mark">
            <a:extLst>
              <a:ext uri="{FF2B5EF4-FFF2-40B4-BE49-F238E27FC236}">
                <a16:creationId xmlns:a16="http://schemas.microsoft.com/office/drawing/2014/main" id="{53C28529-C00B-9749-54EA-034AF45881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6" name="Freeform: Shape 18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0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22607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3A341-4FF4-BC72-519B-60E284E6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E4EFA-5484-54F9-8C6E-43D2A2CF6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Feel free to contact us at </a:t>
            </a:r>
            <a:r>
              <a:rPr lang="en-US" sz="1800" dirty="0">
                <a:solidFill>
                  <a:schemeClr val="tx2"/>
                </a:solidFill>
                <a:hlinkClick r:id="rId2"/>
              </a:rPr>
              <a:t>HPCSupport@cuanschutz.edu</a:t>
            </a:r>
            <a:r>
              <a:rPr lang="en-US" sz="1800" dirty="0">
                <a:solidFill>
                  <a:schemeClr val="tx2"/>
                </a:solidFill>
              </a:rPr>
              <a:t> for access to persistence1 and any questions related to workflow managers on persistence1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Email">
            <a:extLst>
              <a:ext uri="{FF2B5EF4-FFF2-40B4-BE49-F238E27FC236}">
                <a16:creationId xmlns:a16="http://schemas.microsoft.com/office/drawing/2014/main" id="{5DB90356-9A47-6BD2-C16E-46F13292E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95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43385</TotalTime>
  <Words>1980</Words>
  <Application>Microsoft Macintosh PowerPoint</Application>
  <PresentationFormat>Widescreen</PresentationFormat>
  <Paragraphs>159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Introduction to Workflow Managers and the Persistence1 Service on Alpine</vt:lpstr>
      <vt:lpstr>What is a workflow manager?</vt:lpstr>
      <vt:lpstr>Why are workflow managers important?</vt:lpstr>
      <vt:lpstr>Workflow Managers supported on Alpine: Nextflow, Snakemake, NF-Core, KinBot</vt:lpstr>
      <vt:lpstr>What is Persistence1 on Alpine?</vt:lpstr>
      <vt:lpstr>Persistence1 Disclaimer (!)</vt:lpstr>
      <vt:lpstr>Using Persistence1 on Alpine</vt:lpstr>
      <vt:lpstr>Modules Available (and NOT Available) on Persistence1</vt:lpstr>
      <vt:lpstr>Nextflow Set up: Profile</vt:lpstr>
      <vt:lpstr>Nextflow: Configuration options within the curc_alpine.config file</vt:lpstr>
      <vt:lpstr>Nextflow: Configuration options within the curc_alpine.config file</vt:lpstr>
      <vt:lpstr>Nextflow pipeline: 3 options to run</vt:lpstr>
      <vt:lpstr>A Quick Slide About Tmux</vt:lpstr>
      <vt:lpstr>Nextflow: Persistence1 example</vt:lpstr>
      <vt:lpstr>Nextflow: Persistence1 example</vt:lpstr>
      <vt:lpstr>Nextflow: persistence1 example script</vt:lpstr>
      <vt:lpstr>Nf-core set up on persistence1</vt:lpstr>
      <vt:lpstr>Snakemake installation on persistence1</vt:lpstr>
      <vt:lpstr>Snakemake basic example on persistence1:</vt:lpstr>
      <vt:lpstr>Troubleshooting on persistence1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Sherren, Maclean</dc:creator>
  <cp:lastModifiedBy>Sherren, Maclean</cp:lastModifiedBy>
  <cp:revision>3</cp:revision>
  <dcterms:created xsi:type="dcterms:W3CDTF">2026-09-03T17:27:56Z</dcterms:created>
  <dcterms:modified xsi:type="dcterms:W3CDTF">2026-10-06T18:48:55Z</dcterms:modified>
</cp:coreProperties>
</file>